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9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62" r:id="rId12"/>
    <p:sldId id="263" r:id="rId13"/>
    <p:sldId id="264" r:id="rId14"/>
    <p:sldId id="265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6" r:id="rId30"/>
    <p:sldId id="287" r:id="rId31"/>
    <p:sldId id="290" r:id="rId32"/>
    <p:sldId id="289" r:id="rId33"/>
    <p:sldId id="291" r:id="rId34"/>
    <p:sldId id="308" r:id="rId35"/>
    <p:sldId id="311" r:id="rId36"/>
    <p:sldId id="292" r:id="rId37"/>
    <p:sldId id="312" r:id="rId38"/>
    <p:sldId id="293" r:id="rId39"/>
    <p:sldId id="310" r:id="rId40"/>
    <p:sldId id="294" r:id="rId41"/>
    <p:sldId id="309" r:id="rId42"/>
    <p:sldId id="295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13" r:id="rId54"/>
    <p:sldId id="315" r:id="rId55"/>
    <p:sldId id="316" r:id="rId56"/>
    <p:sldId id="317" r:id="rId57"/>
    <p:sldId id="320" r:id="rId58"/>
    <p:sldId id="318" r:id="rId59"/>
    <p:sldId id="322" r:id="rId60"/>
    <p:sldId id="323" r:id="rId61"/>
    <p:sldId id="321" r:id="rId62"/>
    <p:sldId id="319" r:id="rId63"/>
    <p:sldId id="324" r:id="rId64"/>
    <p:sldId id="325" r:id="rId65"/>
    <p:sldId id="326" r:id="rId66"/>
    <p:sldId id="327" r:id="rId67"/>
    <p:sldId id="328" r:id="rId6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ED5BFFA-9D18-4186-8273-4B7C0F206E1A}" type="datetimeFigureOut">
              <a:rPr lang="en-US"/>
              <a:pPr>
                <a:defRPr/>
              </a:pPr>
              <a:t>8/24/2023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CE7183A-FDF0-4427-9835-BDCB9DADB66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D6A7E7-BF6D-4D53-915D-71AA2BC59FB5}" type="slidenum">
              <a:rPr lang="en-IN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I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D583C7-385B-47CE-85CD-EBB0D5E50CC6}" type="slidenum">
              <a:rPr lang="en-IN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I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C5BCB0-25BA-4148-BE13-45182DBFC5AD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C180D0-E400-42EA-85DF-2D7D6182E1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A3689F-BDA7-4B2B-B060-D6A232C381E6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545CF-1F8B-4D3C-BA46-A5F4CC99C7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9A5C1-31A9-48D2-A7AD-CA5CAB03CA4D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AFB959-C202-4EF9-80EF-F862CCCA8B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CA2F0-8810-470D-A20F-F0A1EBC8EA23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A83DB-79DF-4696-AB0D-2FF3372B36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A10FE-3855-4302-8729-5EE52152A748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F06230-4DE3-4E8C-93E4-0950ADF0E9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7F93D-EEE7-41E7-80FA-E3D93111C4A9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58CB57-02E7-42A2-B183-440CDC4867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2981D3-BE84-446F-A6F7-390939F6D1EA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83EC3F-8A9A-4134-95DF-5CA78789DC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21B76-1B9F-4454-A17A-013ABF33B6D0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7FA40-0544-43CB-97C2-14CFB711F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9F884-66B9-4397-B81D-E637AEAA25C0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18482-5CEC-4570-A234-BC6F1E8A35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0EA47-99A2-46FB-A5C9-39268C45DF1E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21591E-6BC7-4082-AC7F-F797A44640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DFF717-8DCA-4619-BDE0-A87835075B40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0D7BE-1691-4C6D-8210-6BA6E19AC1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DDBDB52-F06C-4C0A-B63A-05047B230FA4}" type="datetimeFigureOut">
              <a:rPr lang="en-US"/>
              <a:pPr>
                <a:defRPr/>
              </a:pPr>
              <a:t>8/24/2023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802EC5-DD48-4E26-8EAC-B2A7C72B79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1" r:id="rId2"/>
    <p:sldLayoutId id="2147483710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11" r:id="rId9"/>
    <p:sldLayoutId id="2147483707" r:id="rId10"/>
    <p:sldLayoutId id="214748370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Syntax Analysis</a:t>
            </a:r>
            <a:endParaRPr lang="en-IN" dirty="0"/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>
          <a:xfrm>
            <a:off x="533400" y="3228975"/>
            <a:ext cx="7854950" cy="1752600"/>
          </a:xfrm>
        </p:spPr>
        <p:txBody>
          <a:bodyPr/>
          <a:lstStyle/>
          <a:p>
            <a:pPr marR="0" eaLnBrk="1" hangingPunct="1"/>
            <a:r>
              <a:rPr lang="en-US" smtClean="0"/>
              <a:t>Parsing</a:t>
            </a:r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PARSING:</a:t>
            </a:r>
            <a:endParaRPr lang="en-IN" b="1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It is the process of analyzing a continuous stream of input in order to determine its grammatical structure with respect to a given formal grammar.</a:t>
            </a:r>
            <a:endParaRPr lang="en-IN" smtClean="0"/>
          </a:p>
          <a:p>
            <a:pPr eaLnBrk="1" hangingPunct="1">
              <a:buFont typeface="Wingdings 2" pitchFamily="18" charset="2"/>
              <a:buNone/>
            </a:pPr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Parse tree:</a:t>
            </a:r>
            <a:endParaRPr lang="en-IN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Graphical representation of a derivation or deduction is called a parse tree. </a:t>
            </a:r>
          </a:p>
          <a:p>
            <a:pPr eaLnBrk="1" hangingPunct="1"/>
            <a:r>
              <a:rPr lang="en-US" smtClean="0"/>
              <a:t>Each interior node of the parse tree is a non-terminal; the children of the node can be terminals or non-terminals. </a:t>
            </a:r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Types of parsing:</a:t>
            </a:r>
            <a:endParaRPr lang="en-IN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Top down parsing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Bottom up parsing.</a:t>
            </a:r>
            <a:endParaRPr lang="en-IN" dirty="0" smtClean="0"/>
          </a:p>
          <a:p>
            <a:pPr marL="548640" lvl="2" indent="-274320" eaLnBrk="1" fontAlgn="auto" hangingPunct="1"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dirty="0" smtClean="0"/>
              <a:t>Top–down parsing: A parser can start with the start symbol and try to transform it to the input string. Example: LL Parsers.</a:t>
            </a:r>
          </a:p>
          <a:p>
            <a:pPr marL="548640" lvl="2" indent="-274320" eaLnBrk="1" fontAlgn="auto" hangingPunct="1"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dirty="0" smtClean="0"/>
              <a:t>Bottom–up parsing: A parser can start with input and attempt to rewrite it into the start symbol. Example: LR Parsers.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TOP-DOWN PARSING:</a:t>
            </a:r>
            <a:endParaRPr lang="en-IN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It can be viewed as an attempt to find a left-most derivation for an input string or an attempt to construct a parse tree for the input starting from the root to the leaves.</a:t>
            </a:r>
            <a:endParaRPr lang="en-IN" smtClean="0"/>
          </a:p>
          <a:p>
            <a:pPr eaLnBrk="1" hangingPunct="1"/>
            <a:r>
              <a:rPr lang="en-US" b="1" smtClean="0"/>
              <a:t>Types of top-down parsing:</a:t>
            </a:r>
            <a:endParaRPr lang="en-IN" b="1" smtClean="0"/>
          </a:p>
          <a:p>
            <a:pPr lvl="1" eaLnBrk="1" hangingPunct="1"/>
            <a:r>
              <a:rPr lang="en-US" smtClean="0"/>
              <a:t>Recursive descent parsing</a:t>
            </a:r>
            <a:endParaRPr lang="en-IN" smtClean="0"/>
          </a:p>
          <a:p>
            <a:pPr lvl="1" eaLnBrk="1" hangingPunct="1"/>
            <a:r>
              <a:rPr lang="en-US" smtClean="0"/>
              <a:t>Non-Recursive descent parsing/ Predictive parsing</a:t>
            </a:r>
            <a:endParaRPr lang="en-IN" smtClean="0"/>
          </a:p>
          <a:p>
            <a:pPr eaLnBrk="1" hangingPunct="1"/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/>
              <a:t>RECURSIVE DESCENT PARSING:</a:t>
            </a:r>
            <a:endParaRPr lang="en-IN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IN" smtClean="0"/>
              <a:t>Recursive descent parsing is one of the top-down parsing techniques that uses a set of recursive procedures to scan its input.</a:t>
            </a:r>
          </a:p>
          <a:p>
            <a:pPr eaLnBrk="1" hangingPunct="1"/>
            <a:r>
              <a:rPr lang="en-IN" smtClean="0"/>
              <a:t>This parsing method may involve backtracking, that is, making repeated scans of the input.</a:t>
            </a:r>
          </a:p>
          <a:p>
            <a:pPr eaLnBrk="1" hangingPunct="1"/>
            <a:r>
              <a:rPr lang="en-IN" smtClean="0"/>
              <a:t>Example for backtracking: Consider the grammar G: 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IN" smtClean="0"/>
              <a:t>		S → cAd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IN" smtClean="0"/>
              <a:t>		A → ab | a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IN" smtClean="0"/>
              <a:t>and the input string w=cad.</a:t>
            </a:r>
          </a:p>
          <a:p>
            <a:pPr eaLnBrk="1" hangingPunct="1">
              <a:buFont typeface="Wingdings 2" pitchFamily="18" charset="2"/>
              <a:buNone/>
            </a:pPr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905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/>
              <a:t>Example for recursive decent parsing:</a:t>
            </a:r>
            <a:endParaRPr lang="en-IN" sz="4000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eaLnBrk="1" hangingPunct="1"/>
            <a:r>
              <a:rPr lang="en-US" smtClean="0"/>
              <a:t>Consider the grammar</a:t>
            </a:r>
          </a:p>
          <a:p>
            <a:pPr lvl="1" eaLnBrk="1" hangingPunct="1"/>
            <a:r>
              <a:rPr lang="en-US" smtClean="0"/>
              <a:t>DATATYPE</a:t>
            </a:r>
            <a:r>
              <a:rPr lang="en-US" smtClean="0">
                <a:sym typeface="Wingdings" pitchFamily="2" charset="2"/>
              </a:rPr>
              <a:t> SIMPLE | </a:t>
            </a:r>
            <a:r>
              <a:rPr lang="en-IN" smtClean="0"/>
              <a:t>↑</a:t>
            </a:r>
            <a:r>
              <a:rPr lang="en-US" smtClean="0">
                <a:sym typeface="Wingdings" pitchFamily="2" charset="2"/>
              </a:rPr>
              <a:t>id | array[SIMPLE] of DATATYPE </a:t>
            </a:r>
          </a:p>
          <a:p>
            <a:pPr lvl="1" eaLnBrk="1" hangingPunct="1"/>
            <a:r>
              <a:rPr lang="en-US" smtClean="0">
                <a:latin typeface="Utsaah" pitchFamily="34" charset="0"/>
                <a:cs typeface="Utsaah" pitchFamily="34" charset="0"/>
                <a:sym typeface="Wingdings" pitchFamily="2" charset="2"/>
              </a:rPr>
              <a:t> </a:t>
            </a:r>
            <a:r>
              <a:rPr lang="en-US" smtClean="0">
                <a:sym typeface="Wingdings" pitchFamily="2" charset="2"/>
              </a:rPr>
              <a:t>SIMPLE  integer | char | num dot dot num</a:t>
            </a:r>
          </a:p>
          <a:p>
            <a:pPr lvl="1" eaLnBrk="1" hangingPunct="1"/>
            <a:endParaRPr lang="en-US" smtClean="0"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905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/>
              <a:t>Example for recursive decent parsing:</a:t>
            </a:r>
            <a:endParaRPr lang="en-IN" sz="4000" dirty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eaLnBrk="1" hangingPunct="1"/>
            <a:r>
              <a:rPr lang="en-US" dirty="0" smtClean="0"/>
              <a:t>The Procedure for each non-terminal is defined as follows:</a:t>
            </a:r>
          </a:p>
          <a:p>
            <a:pPr eaLnBrk="1" hangingPunct="1"/>
            <a:r>
              <a:rPr lang="en-US" dirty="0" smtClean="0">
                <a:sym typeface="Wingdings" pitchFamily="2" charset="2"/>
              </a:rPr>
              <a:t>Procedure match(t: token)</a:t>
            </a:r>
          </a:p>
          <a:p>
            <a:pPr lvl="1" eaLnBrk="1" hangingPunct="1">
              <a:buFont typeface="Wingdings 2" pitchFamily="18" charset="2"/>
              <a:buNone/>
            </a:pPr>
            <a:r>
              <a:rPr lang="en-US" dirty="0" smtClean="0">
                <a:sym typeface="Wingdings" pitchFamily="2" charset="2"/>
              </a:rPr>
              <a:t>begin </a:t>
            </a:r>
          </a:p>
          <a:p>
            <a:pPr lvl="1" eaLnBrk="1" hangingPunct="1">
              <a:buFont typeface="Wingdings 2" pitchFamily="18" charset="2"/>
              <a:buNone/>
            </a:pPr>
            <a:r>
              <a:rPr lang="en-US" dirty="0" smtClean="0">
                <a:sym typeface="Wingdings" pitchFamily="2" charset="2"/>
              </a:rPr>
              <a:t>	if lookahead = t then</a:t>
            </a:r>
          </a:p>
          <a:p>
            <a:pPr lvl="1" eaLnBrk="1" hangingPunct="1">
              <a:buFont typeface="Wingdings 2" pitchFamily="18" charset="2"/>
              <a:buNone/>
            </a:pPr>
            <a:r>
              <a:rPr lang="en-US" dirty="0" smtClean="0">
                <a:sym typeface="Wingdings" pitchFamily="2" charset="2"/>
              </a:rPr>
              <a:t>			lookahead:= next token</a:t>
            </a:r>
          </a:p>
          <a:p>
            <a:pPr lvl="1" eaLnBrk="1" hangingPunct="1">
              <a:buFont typeface="Wingdings 2" pitchFamily="18" charset="2"/>
              <a:buNone/>
            </a:pPr>
            <a:r>
              <a:rPr lang="en-US" dirty="0" smtClean="0">
                <a:sym typeface="Wingdings" pitchFamily="2" charset="2"/>
              </a:rPr>
              <a:t>	else</a:t>
            </a:r>
          </a:p>
          <a:p>
            <a:pPr lvl="1" eaLnBrk="1" hangingPunct="1">
              <a:buFont typeface="Wingdings 2" pitchFamily="18" charset="2"/>
              <a:buNone/>
            </a:pPr>
            <a:r>
              <a:rPr lang="en-US" dirty="0" smtClean="0">
                <a:sym typeface="Wingdings" pitchFamily="2" charset="2"/>
              </a:rPr>
              <a:t>			error</a:t>
            </a:r>
          </a:p>
          <a:p>
            <a:pPr lvl="1" eaLnBrk="1" hangingPunct="1">
              <a:buFont typeface="Wingdings 2" pitchFamily="18" charset="2"/>
              <a:buNone/>
            </a:pPr>
            <a:r>
              <a:rPr lang="en-US" dirty="0" smtClean="0">
                <a:sym typeface="Wingdings" pitchFamily="2" charset="2"/>
              </a:rPr>
              <a:t>end;</a:t>
            </a:r>
          </a:p>
          <a:p>
            <a:pPr lvl="1" eaLnBrk="1" hangingPunct="1"/>
            <a:endParaRPr lang="en-US" dirty="0" smtClean="0"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905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/>
              <a:t>Example for recursive decent parsing: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 fontScale="77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The Procedure for each non-terminal is defined as follows: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>
                <a:sym typeface="Wingdings" pitchFamily="2" charset="2"/>
              </a:rPr>
              <a:t>Procedure DATATYPE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begin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	if lookahead is in { integer, char, num} then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			call(SIMPLE)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		else if lookahead = ‘</a:t>
            </a:r>
            <a:r>
              <a:rPr lang="en-IN" dirty="0" smtClean="0"/>
              <a:t>↑’ then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		begin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			match(‘</a:t>
            </a:r>
            <a:r>
              <a:rPr lang="en-IN" dirty="0" smtClean="0"/>
              <a:t>↑’); match(id)</a:t>
            </a:r>
            <a:endParaRPr lang="en-US" dirty="0" smtClean="0">
              <a:sym typeface="Wingdings" pitchFamily="2" charset="2"/>
            </a:endParaRP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		end;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	else if lookahead = ‘array’ then begin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    		match(array); match(‘[’);  call(SIMPLE);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			match(‘]’); match(‘of’); call(DATATYPE);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	end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	else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			error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>
                <a:sym typeface="Wingdings" pitchFamily="2" charset="2"/>
              </a:rPr>
              <a:t>End;	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endParaRPr lang="en-US" dirty="0" smtClean="0"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/>
          <a:lstStyle/>
          <a:p>
            <a:pPr eaLnBrk="1" hangingPunct="1"/>
            <a:r>
              <a:rPr lang="en-US" sz="3600" b="1" smtClean="0"/>
              <a:t>Example for recursive decent parsing:</a:t>
            </a:r>
            <a:endParaRPr lang="en-IN" sz="36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Procedure SIMPLE;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Begin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if lookahead = </a:t>
            </a:r>
            <a:r>
              <a:rPr lang="en-US" dirty="0" err="1" smtClean="0"/>
              <a:t>integerr</a:t>
            </a:r>
            <a:r>
              <a:rPr lang="en-US" dirty="0" smtClean="0"/>
              <a:t> then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	match(integer);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else if lookahead = char then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	match(char);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else if lookahead = num then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begin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	match(num); match(</a:t>
            </a:r>
            <a:r>
              <a:rPr lang="en-US" dirty="0" err="1" smtClean="0"/>
              <a:t>dotdot</a:t>
            </a:r>
            <a:r>
              <a:rPr lang="en-US" dirty="0" smtClean="0"/>
              <a:t>); match(num);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end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else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	error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end</a:t>
            </a:r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/>
          <a:lstStyle/>
          <a:p>
            <a:pPr eaLnBrk="1" hangingPunct="1"/>
            <a:r>
              <a:rPr lang="en-US" sz="4000" b="1" smtClean="0"/>
              <a:t>Example for recursive decent parsing:</a:t>
            </a:r>
            <a:endParaRPr lang="en-IN" sz="4000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/>
            <a:r>
              <a:rPr lang="en-US" smtClean="0"/>
              <a:t>A left-recursive grammar can cause a recursive-descent parser to go into an infinite loop.</a:t>
            </a:r>
            <a:endParaRPr lang="en-IN" smtClean="0"/>
          </a:p>
          <a:p>
            <a:pPr eaLnBrk="1" hangingPunct="1"/>
            <a:r>
              <a:rPr lang="en-US" smtClean="0"/>
              <a:t>Hence, </a:t>
            </a:r>
            <a:r>
              <a:rPr lang="en-US" b="1" smtClean="0"/>
              <a:t>elimination of left-recursion </a:t>
            </a:r>
            <a:r>
              <a:rPr lang="en-US" smtClean="0"/>
              <a:t>must be done before parsing.</a:t>
            </a:r>
            <a:endParaRPr lang="en-IN" smtClean="0"/>
          </a:p>
          <a:p>
            <a:pPr eaLnBrk="1" hangingPunct="1"/>
            <a:r>
              <a:rPr lang="en-US" smtClean="0"/>
              <a:t>Consider the grammar for arithmetic expressions </a:t>
            </a:r>
          </a:p>
          <a:p>
            <a:pPr lvl="1" eaLnBrk="1" hangingPunct="1"/>
            <a:r>
              <a:rPr lang="en-US" smtClean="0"/>
              <a:t>E → E+T | T</a:t>
            </a:r>
            <a:endParaRPr lang="en-IN" smtClean="0"/>
          </a:p>
          <a:p>
            <a:pPr lvl="1" eaLnBrk="1" hangingPunct="1"/>
            <a:r>
              <a:rPr lang="en-US" smtClean="0"/>
              <a:t>T → T*F | F</a:t>
            </a:r>
            <a:endParaRPr lang="en-IN" smtClean="0"/>
          </a:p>
          <a:p>
            <a:pPr lvl="1" eaLnBrk="1" hangingPunct="1"/>
            <a:r>
              <a:rPr lang="en-US" smtClean="0"/>
              <a:t>F → (E) | id</a:t>
            </a:r>
            <a:endParaRPr lang="en-IN" smtClean="0"/>
          </a:p>
          <a:p>
            <a:pPr eaLnBrk="1" hangingPunct="1"/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905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/>
              <a:t>Example for recursive decent parsing:</a:t>
            </a:r>
            <a:endParaRPr lang="en-IN" sz="4000" dirty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eaLnBrk="1" hangingPunct="1"/>
            <a:r>
              <a:rPr lang="en-US" smtClean="0"/>
              <a:t>After eliminating the left-recursion the grammar becomes, </a:t>
            </a:r>
          </a:p>
          <a:p>
            <a:pPr lvl="1" eaLnBrk="1" hangingPunct="1"/>
            <a:r>
              <a:rPr lang="en-US" smtClean="0"/>
              <a:t>E → TE’</a:t>
            </a:r>
            <a:endParaRPr lang="en-IN" smtClean="0"/>
          </a:p>
          <a:p>
            <a:pPr lvl="1" eaLnBrk="1" hangingPunct="1"/>
            <a:r>
              <a:rPr lang="en-US" smtClean="0"/>
              <a:t>E’ → +TE’ | ε</a:t>
            </a:r>
            <a:endParaRPr lang="en-IN" smtClean="0"/>
          </a:p>
          <a:p>
            <a:pPr lvl="1" eaLnBrk="1" hangingPunct="1"/>
            <a:r>
              <a:rPr lang="en-US" smtClean="0"/>
              <a:t>T → FT’</a:t>
            </a:r>
            <a:endParaRPr lang="en-IN" smtClean="0"/>
          </a:p>
          <a:p>
            <a:pPr lvl="1" eaLnBrk="1" hangingPunct="1"/>
            <a:r>
              <a:rPr lang="en-US" smtClean="0"/>
              <a:t>T’ → *FT’ | ε</a:t>
            </a:r>
            <a:endParaRPr lang="en-IN" smtClean="0"/>
          </a:p>
          <a:p>
            <a:pPr lvl="1" eaLnBrk="1" hangingPunct="1"/>
            <a:r>
              <a:rPr lang="en-US" smtClean="0"/>
              <a:t>F → (E) | id</a:t>
            </a:r>
            <a:endParaRPr lang="en-IN" smtClean="0"/>
          </a:p>
          <a:p>
            <a:pPr eaLnBrk="1" hangingPunct="1"/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8191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/>
              <a:t>Recursive Decent Parser: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85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Procedure E()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      begin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T();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       	EPRIME( );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	End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Procedure EPRIME( )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IN" b="1" dirty="0" smtClean="0"/>
              <a:t>	</a:t>
            </a:r>
            <a:r>
              <a:rPr lang="en-US" b="1" dirty="0" smtClean="0"/>
              <a:t>begin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 	</a:t>
            </a:r>
            <a:r>
              <a:rPr lang="en-US" dirty="0" smtClean="0"/>
              <a:t>If </a:t>
            </a:r>
            <a:r>
              <a:rPr lang="en-US" dirty="0" err="1" smtClean="0"/>
              <a:t>input_symbol</a:t>
            </a:r>
            <a:r>
              <a:rPr lang="en-US" dirty="0" smtClean="0"/>
              <a:t>=’+’ then ADVANCE( );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		T( );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		EPRIME( );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	end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b="1" dirty="0" smtClean="0"/>
              <a:t> end </a:t>
            </a: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8191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/>
              <a:t>Recursive Decent Parser: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55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Procedure T( )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	begin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	F( );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	TPRIME( );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	end</a:t>
            </a:r>
            <a:endParaRPr lang="en-IN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Procedure TPRIME( )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	begin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	If </a:t>
            </a:r>
            <a:r>
              <a:rPr lang="en-US" dirty="0" err="1" smtClean="0"/>
              <a:t>input_symbol</a:t>
            </a:r>
            <a:r>
              <a:rPr lang="en-US" dirty="0" smtClean="0"/>
              <a:t>=’*’ then ADVANCE( );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IN" dirty="0" smtClean="0"/>
              <a:t>		</a:t>
            </a:r>
            <a:r>
              <a:rPr lang="en-US" dirty="0" smtClean="0"/>
              <a:t>F( );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	TPRIME( );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	end</a:t>
            </a:r>
            <a:endParaRPr lang="en-IN" b="1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dirty="0" smtClean="0"/>
              <a:t>Procedure F( )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	begin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	If </a:t>
            </a:r>
            <a:r>
              <a:rPr lang="en-US" dirty="0" err="1" smtClean="0"/>
              <a:t>input_symbol</a:t>
            </a:r>
            <a:r>
              <a:rPr lang="en-US" dirty="0" smtClean="0"/>
              <a:t>=’id’ then ADVANCE( );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	else if input-symbol=’(‘ then ADVANCE( ); 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		E( );</a:t>
            </a:r>
            <a:endParaRPr lang="en-IN" dirty="0" smtClean="0"/>
          </a:p>
          <a:p>
            <a:pPr lvl="2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else if </a:t>
            </a:r>
            <a:r>
              <a:rPr lang="en-US" dirty="0" err="1" smtClean="0"/>
              <a:t>input_symbol</a:t>
            </a:r>
            <a:r>
              <a:rPr lang="en-US" dirty="0" smtClean="0"/>
              <a:t>=’)’ then ADVANCE( );</a:t>
            </a: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		</a:t>
            </a:r>
            <a:r>
              <a:rPr lang="en-US" dirty="0" smtClean="0"/>
              <a:t>else ERROR( );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dirty="0" smtClean="0"/>
              <a:t>	end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742950"/>
          </a:xfrm>
        </p:spPr>
        <p:txBody>
          <a:bodyPr/>
          <a:lstStyle/>
          <a:p>
            <a:pPr eaLnBrk="1" hangingPunct="1"/>
            <a:r>
              <a:rPr lang="en-IN" sz="3600" smtClean="0"/>
              <a:t>Stack implementation:</a:t>
            </a:r>
          </a:p>
        </p:txBody>
      </p:sp>
      <p:pic>
        <p:nvPicPr>
          <p:cNvPr id="1945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643188" y="1666875"/>
            <a:ext cx="3857625" cy="45148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dirty="0" smtClean="0"/>
              <a:t>PREDICTIVE PARSING:</a:t>
            </a:r>
            <a:endParaRPr lang="en-IN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eaLnBrk="1" hangingPunct="1"/>
            <a:r>
              <a:rPr lang="en-IN" smtClean="0"/>
              <a:t>Predictive parsing is a special case of recursive descent parsing where no backtracking is required.</a:t>
            </a:r>
          </a:p>
          <a:p>
            <a:pPr eaLnBrk="1" hangingPunct="1"/>
            <a:r>
              <a:rPr lang="en-IN" smtClean="0"/>
              <a:t>The key problem of predictive parsing is to determine the production to be applied for a non-terminal in case of alternatives.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dirty="0" smtClean="0"/>
              <a:t>Non-recursive predictive parser:</a:t>
            </a:r>
            <a:endParaRPr lang="en-IN" dirty="0"/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314450" y="2276475"/>
            <a:ext cx="6515100" cy="3219450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7429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dirty="0" smtClean="0"/>
              <a:t>Non-recursive predictive parser:</a:t>
            </a:r>
            <a:endParaRPr lang="en-IN" dirty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/>
            <a:r>
              <a:rPr lang="en-IN" smtClean="0"/>
              <a:t>Input buffer: It consists of strings to be parsed, followed by $ to indicate the end of the input string.</a:t>
            </a:r>
          </a:p>
          <a:p>
            <a:pPr eaLnBrk="1" hangingPunct="1"/>
            <a:r>
              <a:rPr lang="en-IN" smtClean="0"/>
              <a:t>Stack: It contains a sequence of grammar symbols preceded by $ to indicate the bottom of the stack.</a:t>
            </a:r>
          </a:p>
          <a:p>
            <a:pPr lvl="1" eaLnBrk="1" hangingPunct="1"/>
            <a:r>
              <a:rPr lang="en-IN" smtClean="0"/>
              <a:t>Initially, the stack contains the start symbol on top of $.</a:t>
            </a:r>
          </a:p>
          <a:p>
            <a:pPr eaLnBrk="1" hangingPunct="1"/>
            <a:r>
              <a:rPr lang="en-IN" smtClean="0"/>
              <a:t>Parsing table: It is a two-dimensional array M[A, a], where ‘A’ is a non-terminal and ‘a’ is a terminal.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74295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dirty="0" smtClean="0"/>
              <a:t>Predictive parsing program: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IN" dirty="0" smtClean="0"/>
              <a:t>The parser is controlled by a program that considers X, the symbol on top of stack, and a, the current input symbol. 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+mj-lt"/>
              <a:buAutoNum type="arabicPeriod"/>
              <a:defRPr/>
            </a:pPr>
            <a:r>
              <a:rPr lang="en-IN" dirty="0" smtClean="0"/>
              <a:t>If X = a = $, the parser halts and announces successful completion of parsing.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+mj-lt"/>
              <a:buAutoNum type="arabicPeriod"/>
              <a:defRPr/>
            </a:pPr>
            <a:r>
              <a:rPr lang="en-IN" dirty="0" smtClean="0"/>
              <a:t>If X = a ≠ $, the parser pops X off the stack and advances the input pointer to the next input symbol.</a:t>
            </a:r>
          </a:p>
          <a:p>
            <a:pPr marL="514350" indent="-514350" eaLnBrk="1" fontAlgn="auto" hangingPunct="1">
              <a:spcAft>
                <a:spcPts val="0"/>
              </a:spcAft>
              <a:buClr>
                <a:schemeClr val="accent3"/>
              </a:buClr>
              <a:buFont typeface="+mj-lt"/>
              <a:buAutoNum type="arabicPeriod"/>
              <a:defRPr/>
            </a:pPr>
            <a:r>
              <a:rPr lang="en-IN" dirty="0" smtClean="0"/>
              <a:t>If X is a non-terminal , the program consults entry M[X, a] of the parsing table M. This entry will either be an X-production of the grammar or an error entry.</a:t>
            </a:r>
          </a:p>
          <a:p>
            <a:pPr marL="88011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dirty="0" smtClean="0"/>
              <a:t>If M[X, a] = {X → UVW},the parser replaces X on top of the stack by UVW</a:t>
            </a:r>
          </a:p>
          <a:p>
            <a:pPr marL="88011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dirty="0" smtClean="0"/>
              <a:t>If M[X, a] = error, the parser calls an error recovery routine.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3600" smtClean="0"/>
              <a:t>Algorithm for construction of predictive parsing table: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IN" dirty="0" smtClean="0"/>
              <a:t>Input : Grammar G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IN" dirty="0" smtClean="0"/>
              <a:t>Output : Parsing table M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IN" dirty="0" smtClean="0"/>
              <a:t>Method :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1. For each production A → α of the grammar, do steps 2 and 3.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2. For each terminal ‘a’ in FIRST(α), add A → α to M[A, a].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3. If ε is in FIRST(α), add A → α to M[A, b] for each terminal b in FOLLOW(A). If ε is in FIRST(α) and $ is in FOLLOW(A) , add A → α to M[A, $].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4. Make each undefined entry of M be error.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/>
          <a:lstStyle/>
          <a:p>
            <a:pPr eaLnBrk="1" hangingPunct="1"/>
            <a:r>
              <a:rPr lang="en-IN" sz="3600" b="1" dirty="0" smtClean="0"/>
              <a:t>Construction of predictive parsing table: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IN" dirty="0" smtClean="0"/>
              <a:t>Example: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IN" dirty="0" smtClean="0"/>
              <a:t>Consider the following grammar :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E → E+T | T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T → T*F | F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 → (E) | id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IN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IN" dirty="0" smtClean="0"/>
              <a:t>After eliminating left-recursion the grammar is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E → TE’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E’ → +TE’ | </a:t>
            </a:r>
            <a:r>
              <a:rPr lang="el-GR" dirty="0" smtClean="0"/>
              <a:t>ε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T → FT’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T’ → *FT’ | </a:t>
            </a:r>
            <a:r>
              <a:rPr lang="el-GR" dirty="0" smtClean="0"/>
              <a:t>ε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 → (E) | id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666750"/>
          </a:xfrm>
        </p:spPr>
        <p:txBody>
          <a:bodyPr/>
          <a:lstStyle/>
          <a:p>
            <a:pPr eaLnBrk="1" hangingPunct="1"/>
            <a:r>
              <a:rPr lang="en-IN" sz="3600" b="1" smtClean="0"/>
              <a:t>Construction of predictive parsing table:</a:t>
            </a:r>
            <a:endParaRPr lang="en-IN" sz="36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IN" dirty="0" smtClean="0"/>
              <a:t>First( ) :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FIRST(E) = { ( , id}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FIRST(E’) ={+ , </a:t>
            </a:r>
            <a:r>
              <a:rPr lang="el-GR" dirty="0" smtClean="0"/>
              <a:t>ε }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FIRST(T) = { ( , id}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FIRST(T’) = {*, </a:t>
            </a:r>
            <a:r>
              <a:rPr lang="el-GR" dirty="0" smtClean="0"/>
              <a:t>ε }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FIRST(F) = { ( , id }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IN" dirty="0" smtClean="0"/>
              <a:t>Follow( ):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FOLLOW(E) = { $, ) }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FOLLOW(E’) = { $, ) }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FOLLOW(T) = { +, $, ) }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FOLLOW(T’) = { +, $, ) }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IN" dirty="0" smtClean="0"/>
              <a:t>FOLLOW(F) = {+, * , $ , ) }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4000" b="1" smtClean="0"/>
              <a:t>Construction of predictive parsing table:</a:t>
            </a:r>
            <a:endParaRPr lang="en-IN" sz="4000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599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Non-Terminals</a:t>
                      </a:r>
                      <a:endParaRPr lang="en-IN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Terminals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id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+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*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(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)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$</a:t>
                      </a:r>
                      <a:endParaRPr lang="en-IN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E</a:t>
                      </a:r>
                      <a:endParaRPr lang="en-IN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IN" sz="3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F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4000" b="1" smtClean="0"/>
              <a:t>Construction of predictive parsing table:</a:t>
            </a:r>
            <a:endParaRPr lang="en-IN" sz="4000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599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Non-Terminals</a:t>
                      </a:r>
                      <a:endParaRPr lang="en-IN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Terminals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id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+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*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(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)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$</a:t>
                      </a:r>
                      <a:endParaRPr lang="en-IN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E</a:t>
                      </a:r>
                      <a:endParaRPr lang="en-IN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IN" sz="3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F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4000" b="1" smtClean="0"/>
              <a:t>Construction of predictive parsing table:</a:t>
            </a:r>
            <a:endParaRPr lang="en-IN" sz="4000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599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Non-Terminals</a:t>
                      </a:r>
                      <a:endParaRPr lang="en-IN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Terminals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id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+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*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(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)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$</a:t>
                      </a:r>
                      <a:endParaRPr lang="en-IN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E</a:t>
                      </a:r>
                      <a:endParaRPr lang="en-IN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IN" sz="3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/>
                        <a:t>E’ → +TE’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F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4000" b="1" smtClean="0"/>
              <a:t>Construction of predictive parsing table:</a:t>
            </a:r>
            <a:endParaRPr lang="en-IN" sz="4000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599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Non-Terminals</a:t>
                      </a:r>
                      <a:endParaRPr lang="en-IN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Terminals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id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+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*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(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)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$</a:t>
                      </a:r>
                      <a:endParaRPr lang="en-IN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E</a:t>
                      </a:r>
                      <a:endParaRPr lang="en-IN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IN" sz="3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/>
                        <a:t>E’ → +TE’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E’ → </a:t>
                      </a:r>
                      <a:r>
                        <a:rPr lang="el-GR" dirty="0" smtClean="0"/>
                        <a:t>ε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E’ → </a:t>
                      </a:r>
                      <a:r>
                        <a:rPr lang="el-GR" dirty="0" smtClean="0"/>
                        <a:t>ε</a:t>
                      </a:r>
                      <a:endParaRPr lang="en-IN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F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4000" b="1" smtClean="0"/>
              <a:t>Construction of predictive parsing table:</a:t>
            </a:r>
            <a:endParaRPr lang="en-IN" sz="4000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599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Non-Terminals</a:t>
                      </a:r>
                      <a:endParaRPr lang="en-IN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Terminals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id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+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*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(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)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$</a:t>
                      </a:r>
                      <a:endParaRPr lang="en-IN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E</a:t>
                      </a:r>
                      <a:endParaRPr lang="en-IN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IN" sz="3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/>
                        <a:t>E’ → +TE’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E’ → </a:t>
                      </a:r>
                      <a:r>
                        <a:rPr lang="el-GR" dirty="0" smtClean="0"/>
                        <a:t>ε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E’ → </a:t>
                      </a:r>
                      <a:r>
                        <a:rPr lang="el-GR" dirty="0" smtClean="0"/>
                        <a:t>ε</a:t>
                      </a:r>
                      <a:endParaRPr lang="en-IN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 → FT’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 → FT’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F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4000" b="1" smtClean="0"/>
              <a:t>Construction of predictive parsing table:</a:t>
            </a:r>
            <a:endParaRPr lang="en-IN" sz="4000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599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Non-Terminals</a:t>
                      </a:r>
                      <a:endParaRPr lang="en-IN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Terminals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id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+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*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(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)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$</a:t>
                      </a:r>
                      <a:endParaRPr lang="en-IN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E</a:t>
                      </a:r>
                      <a:endParaRPr lang="en-IN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IN" sz="3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/>
                        <a:t>E’ → +TE’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E’ → </a:t>
                      </a:r>
                      <a:r>
                        <a:rPr lang="el-GR" dirty="0" smtClean="0"/>
                        <a:t>ε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E’ → </a:t>
                      </a:r>
                      <a:r>
                        <a:rPr lang="el-GR" dirty="0" smtClean="0"/>
                        <a:t>ε</a:t>
                      </a:r>
                      <a:endParaRPr lang="en-IN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 → FT’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 → FT’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T’ → *FT’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F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4000" b="1" smtClean="0"/>
              <a:t>Construction of predictive parsing table:</a:t>
            </a:r>
            <a:endParaRPr lang="en-IN" sz="4000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599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Non-Terminals</a:t>
                      </a:r>
                      <a:endParaRPr lang="en-IN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Terminals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id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+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*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(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)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$</a:t>
                      </a:r>
                      <a:endParaRPr lang="en-IN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E</a:t>
                      </a:r>
                      <a:endParaRPr lang="en-IN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IN" sz="3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/>
                        <a:t>E’ → +TE’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E’ → </a:t>
                      </a:r>
                      <a:r>
                        <a:rPr lang="el-GR" dirty="0" smtClean="0"/>
                        <a:t>ε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E’ → </a:t>
                      </a:r>
                      <a:r>
                        <a:rPr lang="el-GR" dirty="0" smtClean="0"/>
                        <a:t>ε</a:t>
                      </a:r>
                      <a:endParaRPr lang="en-IN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 → FT’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 → FT’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T’ → </a:t>
                      </a:r>
                      <a:r>
                        <a:rPr lang="el-GR" dirty="0" smtClean="0"/>
                        <a:t>ε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T’ → *FT’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T’ → </a:t>
                      </a:r>
                      <a:r>
                        <a:rPr lang="el-GR" dirty="0" smtClean="0"/>
                        <a:t>ε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T’ → </a:t>
                      </a:r>
                      <a:r>
                        <a:rPr lang="el-GR" dirty="0" smtClean="0"/>
                        <a:t>ε</a:t>
                      </a:r>
                      <a:endParaRPr lang="en-IN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F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4000" b="1" smtClean="0"/>
              <a:t>Construction of predictive parsing table:</a:t>
            </a:r>
            <a:endParaRPr lang="en-IN" sz="4000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599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7"/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Non-Terminals</a:t>
                      </a:r>
                      <a:endParaRPr lang="en-IN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Terminals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id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+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*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(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)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$</a:t>
                      </a:r>
                      <a:endParaRPr lang="en-IN" sz="32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E</a:t>
                      </a:r>
                      <a:endParaRPr lang="en-IN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E → TE’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0" lang="en-IN" sz="3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/>
                        <a:t>E’ → +TE’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E’ → </a:t>
                      </a:r>
                      <a:r>
                        <a:rPr lang="el-GR" dirty="0" smtClean="0"/>
                        <a:t>ε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E’ → </a:t>
                      </a:r>
                      <a:r>
                        <a:rPr lang="el-GR" dirty="0" smtClean="0"/>
                        <a:t>ε</a:t>
                      </a:r>
                      <a:endParaRPr lang="en-IN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T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 → FT’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 → FT’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T’ → </a:t>
                      </a:r>
                      <a:r>
                        <a:rPr lang="el-GR" dirty="0" smtClean="0"/>
                        <a:t>ε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T’ → *FT’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T’ → </a:t>
                      </a:r>
                      <a:r>
                        <a:rPr lang="el-GR" dirty="0" smtClean="0"/>
                        <a:t>ε</a:t>
                      </a:r>
                      <a:endParaRPr lang="en-IN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T’ → </a:t>
                      </a:r>
                      <a:r>
                        <a:rPr lang="el-GR" dirty="0" smtClean="0"/>
                        <a:t>ε</a:t>
                      </a:r>
                      <a:endParaRPr lang="en-IN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F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 → id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F → (E)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742950"/>
          </a:xfrm>
        </p:spPr>
        <p:txBody>
          <a:bodyPr/>
          <a:lstStyle/>
          <a:p>
            <a:pPr eaLnBrk="1" hangingPunct="1"/>
            <a:r>
              <a:rPr lang="en-US" sz="4000" b="1" smtClean="0"/>
              <a:t>Stack implementation:</a:t>
            </a:r>
            <a:endParaRPr lang="en-IN" sz="4000" smtClean="0"/>
          </a:p>
        </p:txBody>
      </p:sp>
      <p:sp>
        <p:nvSpPr>
          <p:cNvPr id="35843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E’T’id</a:t>
                      </a:r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</a:t>
                      </a:r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+id*id $</a:t>
                      </a:r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+id*id $</a:t>
                      </a:r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b="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+TE’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+TE’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+TE’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+TE’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+TE’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+TE’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$E’T’F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*FT’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+TE’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$E’T’F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*FT’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+TE’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$E’T’F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*FT’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b="1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+TE’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$E’T’F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*FT’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+TE’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$E’T’F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*FT’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66800" y="0"/>
          <a:ext cx="69342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/>
                <a:gridCol w="2311400"/>
                <a:gridCol w="2311400"/>
              </a:tblGrid>
              <a:tr h="2937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INPUT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OUTPUT</a:t>
                      </a:r>
                      <a:endParaRPr lang="en-IN" dirty="0"/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 → 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+TE’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 → 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*id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$E’T’F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*FT’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$E’T’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E’T’</a:t>
                      </a:r>
                      <a:r>
                        <a:rPr kumimoji="0" lang="en-IN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endParaRPr kumimoji="0" lang="en-IN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 → id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$E’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0" lang="en-I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T’ → ε</a:t>
                      </a:r>
                    </a:p>
                  </a:txBody>
                  <a:tcPr/>
                </a:tc>
              </a:tr>
              <a:tr h="293793"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E’ → ε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 smtClean="0"/>
              <a:t>Construction of predictive parsing table: Not LL(1)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Given grammar	R</a:t>
            </a:r>
            <a:r>
              <a:rPr lang="en-US" dirty="0" smtClean="0">
                <a:sym typeface="Wingdings" pitchFamily="2" charset="2"/>
              </a:rPr>
              <a:t>R/R | RR | R* | (R) | a | b</a:t>
            </a:r>
            <a:endParaRPr lang="en-IN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Eliminate Left Recursion from the given grammar</a:t>
            </a:r>
          </a:p>
          <a:p>
            <a:r>
              <a:rPr lang="en-US" dirty="0" smtClean="0">
                <a:sym typeface="Wingdings" pitchFamily="2" charset="2"/>
              </a:rPr>
              <a:t>After eliminating Left Recursion: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R(R)R’  |</a:t>
            </a:r>
            <a:r>
              <a:rPr lang="en-US" dirty="0" err="1" smtClean="0">
                <a:sym typeface="Wingdings" pitchFamily="2" charset="2"/>
              </a:rPr>
              <a:t>aR</a:t>
            </a:r>
            <a:r>
              <a:rPr lang="en-US" dirty="0" smtClean="0">
                <a:sym typeface="Wingdings" pitchFamily="2" charset="2"/>
              </a:rPr>
              <a:t>’ | </a:t>
            </a:r>
            <a:r>
              <a:rPr lang="en-US" dirty="0" err="1" smtClean="0">
                <a:sym typeface="Wingdings" pitchFamily="2" charset="2"/>
              </a:rPr>
              <a:t>bR</a:t>
            </a:r>
            <a:r>
              <a:rPr lang="en-US" dirty="0" smtClean="0">
                <a:sym typeface="Wingdings" pitchFamily="2" charset="2"/>
              </a:rPr>
              <a:t>’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R’ /RR’ | RR’ | *R’ | </a:t>
            </a:r>
            <a:r>
              <a:rPr lang="en-IN" dirty="0" smtClean="0">
                <a:solidFill>
                  <a:schemeClr val="dk1"/>
                </a:solidFill>
              </a:rPr>
              <a:t>ε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 smtClean="0"/>
              <a:t>Construction of predictive parsing table: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dk1"/>
                </a:solidFill>
              </a:rPr>
              <a:t>Construct First &amp; Follow:</a:t>
            </a:r>
          </a:p>
          <a:p>
            <a:r>
              <a:rPr lang="en-US" dirty="0" smtClean="0">
                <a:solidFill>
                  <a:schemeClr val="dk1"/>
                </a:solidFill>
              </a:rPr>
              <a:t>First:</a:t>
            </a:r>
          </a:p>
          <a:p>
            <a:pPr lvl="1"/>
            <a:r>
              <a:rPr lang="en-US" dirty="0" smtClean="0">
                <a:solidFill>
                  <a:schemeClr val="dk1"/>
                </a:solidFill>
              </a:rPr>
              <a:t>First(R)={(, a, b}</a:t>
            </a:r>
          </a:p>
          <a:p>
            <a:pPr lvl="1"/>
            <a:r>
              <a:rPr lang="en-US" dirty="0" smtClean="0">
                <a:solidFill>
                  <a:schemeClr val="dk1"/>
                </a:solidFill>
              </a:rPr>
              <a:t>First(R’)={/, (, a, b, *, </a:t>
            </a:r>
            <a:r>
              <a:rPr lang="en-IN" dirty="0" smtClean="0">
                <a:solidFill>
                  <a:schemeClr val="dk1"/>
                </a:solidFill>
              </a:rPr>
              <a:t>ε}</a:t>
            </a:r>
          </a:p>
          <a:p>
            <a:r>
              <a:rPr lang="en-US" sz="2800" dirty="0" smtClean="0">
                <a:solidFill>
                  <a:schemeClr val="dk1"/>
                </a:solidFill>
              </a:rPr>
              <a:t>Follow:</a:t>
            </a:r>
            <a:endParaRPr lang="en-IN" sz="2800" dirty="0" smtClean="0">
              <a:solidFill>
                <a:schemeClr val="dk1"/>
              </a:solidFill>
            </a:endParaRPr>
          </a:p>
          <a:p>
            <a:pPr lvl="1"/>
            <a:r>
              <a:rPr lang="en-IN" dirty="0" smtClean="0">
                <a:solidFill>
                  <a:schemeClr val="dk1"/>
                </a:solidFill>
              </a:rPr>
              <a:t>Follow(R)={$, ), /, (, a, b, *}</a:t>
            </a:r>
          </a:p>
          <a:p>
            <a:pPr lvl="1"/>
            <a:r>
              <a:rPr lang="en-IN" dirty="0" smtClean="0">
                <a:solidFill>
                  <a:schemeClr val="dk1"/>
                </a:solidFill>
              </a:rPr>
              <a:t>Follow(R’)={$, ), /, (, a, b, *}</a:t>
            </a:r>
          </a:p>
          <a:p>
            <a:endParaRPr lang="en-IN" dirty="0" smtClean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sz="4000" b="1" dirty="0" smtClean="0"/>
              <a:t>Construction of predictive parsing table:</a:t>
            </a:r>
            <a:endParaRPr lang="en-IN" sz="4000" dirty="0" smtClean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3627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587146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Non-Terminals</a:t>
                      </a:r>
                      <a:endParaRPr lang="en-IN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Terminals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</a:tr>
              <a:tr h="916913">
                <a:tc vMerge="1">
                  <a:txBody>
                    <a:bodyPr/>
                    <a:lstStyle/>
                    <a:p>
                      <a:pPr algn="ctr"/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a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b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*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/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(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)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 smtClean="0"/>
                        <a:t>$</a:t>
                      </a:r>
                      <a:endParaRPr lang="en-IN" sz="3200" dirty="0"/>
                    </a:p>
                  </a:txBody>
                  <a:tcPr/>
                </a:tc>
              </a:tr>
              <a:tr h="11099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 smtClean="0"/>
                        <a:t>R</a:t>
                      </a:r>
                      <a:endParaRPr lang="en-IN" sz="3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 smtClean="0"/>
                        <a:t>R</a:t>
                      </a:r>
                      <a:r>
                        <a:rPr lang="en-US" sz="1600" dirty="0" err="1" smtClean="0">
                          <a:sym typeface="Wingdings" pitchFamily="2" charset="2"/>
                        </a:rPr>
                        <a:t>aR</a:t>
                      </a:r>
                      <a:r>
                        <a:rPr lang="en-US" sz="1600" dirty="0" smtClean="0">
                          <a:sym typeface="Wingdings" pitchFamily="2" charset="2"/>
                        </a:rPr>
                        <a:t>’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R</a:t>
                      </a:r>
                      <a:r>
                        <a:rPr lang="en-US" sz="1600" dirty="0" err="1" smtClean="0">
                          <a:sym typeface="Wingdings" pitchFamily="2" charset="2"/>
                        </a:rPr>
                        <a:t>bR</a:t>
                      </a:r>
                      <a:r>
                        <a:rPr lang="en-US" sz="1600" dirty="0" smtClean="0">
                          <a:sym typeface="Wingdings" pitchFamily="2" charset="2"/>
                        </a:rPr>
                        <a:t>’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</a:t>
                      </a:r>
                      <a:r>
                        <a:rPr lang="en-US" sz="1600" dirty="0" smtClean="0">
                          <a:sym typeface="Wingdings" pitchFamily="2" charset="2"/>
                        </a:rPr>
                        <a:t>(R)R’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/>
                </a:tc>
              </a:tr>
              <a:tr h="1013430">
                <a:tc>
                  <a:txBody>
                    <a:bodyPr/>
                    <a:lstStyle/>
                    <a:p>
                      <a:pPr algn="ctr"/>
                      <a:r>
                        <a:rPr kumimoji="0" lang="en-IN" sz="32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kumimoji="0" lang="en-IN" sz="3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endParaRPr kumimoji="0" lang="en-IN" sz="3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R’</a:t>
                      </a:r>
                      <a:r>
                        <a:rPr lang="en-US" sz="1600" dirty="0" smtClean="0">
                          <a:sym typeface="Wingdings" pitchFamily="2" charset="2"/>
                        </a:rPr>
                        <a:t>RR’</a:t>
                      </a:r>
                    </a:p>
                    <a:p>
                      <a:r>
                        <a:rPr lang="en-US" sz="1600" dirty="0" smtClean="0">
                          <a:sym typeface="Wingdings" pitchFamily="2" charset="2"/>
                        </a:rPr>
                        <a:t>R’</a:t>
                      </a:r>
                      <a:r>
                        <a:rPr lang="en-IN" sz="1600" dirty="0" smtClean="0">
                          <a:solidFill>
                            <a:schemeClr val="dk1"/>
                          </a:solidFill>
                        </a:rPr>
                        <a:t>ε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R’</a:t>
                      </a:r>
                      <a:r>
                        <a:rPr lang="en-US" sz="1600" dirty="0" smtClean="0">
                          <a:sym typeface="Wingdings" pitchFamily="2" charset="2"/>
                        </a:rPr>
                        <a:t>RR’</a:t>
                      </a:r>
                    </a:p>
                    <a:p>
                      <a:r>
                        <a:rPr lang="en-US" sz="1600" dirty="0" smtClean="0">
                          <a:sym typeface="Wingdings" pitchFamily="2" charset="2"/>
                        </a:rPr>
                        <a:t>R’</a:t>
                      </a:r>
                      <a:r>
                        <a:rPr lang="en-IN" sz="1600" dirty="0" smtClean="0">
                          <a:solidFill>
                            <a:schemeClr val="dk1"/>
                          </a:solidFill>
                        </a:rPr>
                        <a:t>ε</a:t>
                      </a:r>
                      <a:endParaRPr lang="en-IN" sz="1600" dirty="0" smtClean="0"/>
                    </a:p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R’</a:t>
                      </a:r>
                      <a:r>
                        <a:rPr lang="en-US" sz="1600" dirty="0" smtClean="0">
                          <a:sym typeface="Wingdings" pitchFamily="2" charset="2"/>
                        </a:rPr>
                        <a:t>*R’</a:t>
                      </a:r>
                    </a:p>
                    <a:p>
                      <a:r>
                        <a:rPr lang="en-US" sz="1600" dirty="0" smtClean="0">
                          <a:sym typeface="Wingdings" pitchFamily="2" charset="2"/>
                        </a:rPr>
                        <a:t>R’</a:t>
                      </a:r>
                      <a:r>
                        <a:rPr lang="en-IN" sz="1600" dirty="0" smtClean="0">
                          <a:solidFill>
                            <a:schemeClr val="dk1"/>
                          </a:solidFill>
                        </a:rPr>
                        <a:t>ε</a:t>
                      </a:r>
                      <a:endParaRPr lang="en-IN" sz="1600" dirty="0" smtClean="0"/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R’</a:t>
                      </a:r>
                      <a:r>
                        <a:rPr lang="en-US" sz="1600" dirty="0" smtClean="0">
                          <a:sym typeface="Wingdings" pitchFamily="2" charset="2"/>
                        </a:rPr>
                        <a:t>/RR’</a:t>
                      </a:r>
                    </a:p>
                    <a:p>
                      <a:r>
                        <a:rPr lang="en-US" sz="1600" dirty="0" smtClean="0">
                          <a:sym typeface="Wingdings" pitchFamily="2" charset="2"/>
                        </a:rPr>
                        <a:t>R’</a:t>
                      </a:r>
                      <a:r>
                        <a:rPr lang="en-IN" sz="1600" dirty="0" smtClean="0">
                          <a:solidFill>
                            <a:schemeClr val="dk1"/>
                          </a:solidFill>
                        </a:rPr>
                        <a:t>ε</a:t>
                      </a:r>
                      <a:endParaRPr lang="en-IN" sz="1600" dirty="0" smtClean="0"/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R’</a:t>
                      </a:r>
                      <a:r>
                        <a:rPr lang="en-US" sz="1600" dirty="0" smtClean="0">
                          <a:sym typeface="Wingdings" pitchFamily="2" charset="2"/>
                        </a:rPr>
                        <a:t>RR’</a:t>
                      </a:r>
                    </a:p>
                    <a:p>
                      <a:r>
                        <a:rPr lang="en-US" sz="1600" dirty="0" smtClean="0">
                          <a:sym typeface="Wingdings" pitchFamily="2" charset="2"/>
                        </a:rPr>
                        <a:t>R’</a:t>
                      </a:r>
                      <a:r>
                        <a:rPr lang="en-IN" sz="1600" dirty="0" smtClean="0">
                          <a:solidFill>
                            <a:schemeClr val="dk1"/>
                          </a:solidFill>
                        </a:rPr>
                        <a:t>ε</a:t>
                      </a:r>
                      <a:endParaRPr lang="en-IN" sz="1600" dirty="0" smtClean="0"/>
                    </a:p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ym typeface="Wingdings" pitchFamily="2" charset="2"/>
                        </a:rPr>
                        <a:t>R’</a:t>
                      </a:r>
                      <a:r>
                        <a:rPr lang="en-IN" sz="1600" dirty="0" smtClean="0">
                          <a:solidFill>
                            <a:schemeClr val="dk1"/>
                          </a:solidFill>
                        </a:rPr>
                        <a:t>ε</a:t>
                      </a:r>
                      <a:endParaRPr lang="en-IN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ym typeface="Wingdings" pitchFamily="2" charset="2"/>
                        </a:rPr>
                        <a:t>R’</a:t>
                      </a:r>
                      <a:r>
                        <a:rPr lang="en-IN" sz="1600" dirty="0" smtClean="0">
                          <a:solidFill>
                            <a:schemeClr val="dk1"/>
                          </a:solidFill>
                        </a:rPr>
                        <a:t>ε</a:t>
                      </a:r>
                      <a:endParaRPr lang="en-IN" sz="16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742950"/>
          </a:xfrm>
        </p:spPr>
        <p:txBody>
          <a:bodyPr/>
          <a:lstStyle/>
          <a:p>
            <a:r>
              <a:rPr lang="en-US" dirty="0" smtClean="0"/>
              <a:t>Bottom Up Parsing: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724400"/>
          </a:xfrm>
        </p:spPr>
        <p:txBody>
          <a:bodyPr/>
          <a:lstStyle/>
          <a:p>
            <a:r>
              <a:rPr lang="en-IN" dirty="0" smtClean="0"/>
              <a:t>Bottom-up parsing starts from the leaf nodes of a tree and works in upward direction till it reaches the root node. </a:t>
            </a:r>
          </a:p>
          <a:p>
            <a:r>
              <a:rPr lang="en-IN" dirty="0" smtClean="0"/>
              <a:t>Here, we start from a sentence and then apply production rules in reverse manner in order to reach the start symbol. </a:t>
            </a:r>
            <a:endParaRPr lang="en-I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971550"/>
          </a:xfrm>
        </p:spPr>
        <p:txBody>
          <a:bodyPr/>
          <a:lstStyle/>
          <a:p>
            <a:r>
              <a:rPr lang="en-US" dirty="0" smtClean="0"/>
              <a:t>Bottom Up Parsing: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57300" y="2701131"/>
            <a:ext cx="66294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819150"/>
          </a:xfrm>
        </p:spPr>
        <p:txBody>
          <a:bodyPr/>
          <a:lstStyle/>
          <a:p>
            <a:r>
              <a:rPr lang="en-US" dirty="0" smtClean="0"/>
              <a:t>Bottom Up Parsing: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981200"/>
            <a:ext cx="5434443" cy="3913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Bottom Up Parsing: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Handle: </a:t>
            </a:r>
          </a:p>
          <a:p>
            <a:pPr lvl="1"/>
            <a:r>
              <a:rPr lang="en-US" dirty="0" smtClean="0"/>
              <a:t>Handle of a string is a substring that matches the right side of a production and which can be reduced to the non-terminal on the left side of the production.</a:t>
            </a:r>
          </a:p>
          <a:p>
            <a:r>
              <a:rPr lang="en-US" dirty="0" smtClean="0"/>
              <a:t>Handle Pruning: </a:t>
            </a:r>
          </a:p>
          <a:p>
            <a:pPr lvl="1"/>
            <a:r>
              <a:rPr lang="en-US" dirty="0" smtClean="0"/>
              <a:t>The process of reducing the string to the starting symbol is called handle pruning.</a:t>
            </a:r>
          </a:p>
          <a:p>
            <a:pPr lvl="1"/>
            <a:r>
              <a:rPr lang="en-US" dirty="0" smtClean="0"/>
              <a:t>A right most derivation in reverse can be obtained by handle pruning. </a:t>
            </a:r>
            <a:endParaRPr lang="en-IN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Handle Pruning: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err="1" smtClean="0">
                <a:sym typeface="Wingdings" pitchFamily="2" charset="2"/>
              </a:rPr>
              <a:t>aABe</a:t>
            </a:r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A </a:t>
            </a:r>
            <a:r>
              <a:rPr lang="en-US" dirty="0" err="1" smtClean="0">
                <a:sym typeface="Wingdings" pitchFamily="2" charset="2"/>
              </a:rPr>
              <a:t>Abc</a:t>
            </a:r>
            <a:r>
              <a:rPr lang="en-US" dirty="0" smtClean="0">
                <a:sym typeface="Wingdings" pitchFamily="2" charset="2"/>
              </a:rPr>
              <a:t> | b</a:t>
            </a:r>
          </a:p>
          <a:p>
            <a:r>
              <a:rPr lang="en-US" dirty="0" err="1" smtClean="0">
                <a:sym typeface="Wingdings" pitchFamily="2" charset="2"/>
              </a:rPr>
              <a:t>Bd</a:t>
            </a:r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String: </a:t>
            </a:r>
            <a:r>
              <a:rPr lang="en-US" dirty="0" err="1" smtClean="0">
                <a:sym typeface="Wingdings" pitchFamily="2" charset="2"/>
              </a:rPr>
              <a:t>abbcde</a:t>
            </a:r>
            <a:endParaRPr lang="en-IN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Reduce Parser: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shift reduce parser consists of four actions.</a:t>
            </a:r>
          </a:p>
          <a:p>
            <a:pPr lvl="1"/>
            <a:r>
              <a:rPr lang="en-US" dirty="0" smtClean="0"/>
              <a:t>Shift: Next input symbol is shifted onto the top of the  stack</a:t>
            </a:r>
          </a:p>
          <a:p>
            <a:pPr lvl="1"/>
            <a:r>
              <a:rPr lang="en-US" dirty="0" smtClean="0"/>
              <a:t>Reduce: The element on top of the stack is reduced to the non-terminal on the left side of the production.</a:t>
            </a:r>
          </a:p>
          <a:p>
            <a:pPr lvl="1"/>
            <a:r>
              <a:rPr lang="en-US" dirty="0" smtClean="0"/>
              <a:t>Accept: Announces successful completion of parsing.</a:t>
            </a:r>
          </a:p>
          <a:p>
            <a:pPr lvl="1"/>
            <a:r>
              <a:rPr lang="en-US" dirty="0" smtClean="0"/>
              <a:t>Error: Discovers that a syntax error has occurred and calls error recovery routine. </a:t>
            </a:r>
            <a:endParaRPr lang="en-IN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Reduce Parser: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23875" y="2186781"/>
            <a:ext cx="80962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Reduce Parser: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E+T | T</a:t>
            </a:r>
          </a:p>
          <a:p>
            <a:r>
              <a:rPr lang="en-US" dirty="0" smtClean="0"/>
              <a:t>T</a:t>
            </a:r>
            <a:r>
              <a:rPr lang="en-US" dirty="0" smtClean="0">
                <a:sym typeface="Wingdings" pitchFamily="2" charset="2"/>
              </a:rPr>
              <a:t> T*F | F</a:t>
            </a:r>
          </a:p>
          <a:p>
            <a:r>
              <a:rPr lang="en-US" dirty="0" smtClean="0">
                <a:sym typeface="Wingdings" pitchFamily="2" charset="2"/>
              </a:rPr>
              <a:t>F (E) | id</a:t>
            </a:r>
          </a:p>
          <a:p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Input String: id*</a:t>
            </a:r>
            <a:r>
              <a:rPr lang="en-US" dirty="0" err="1" smtClean="0">
                <a:sym typeface="Wingdings" pitchFamily="2" charset="2"/>
              </a:rPr>
              <a:t>id+id</a:t>
            </a:r>
            <a:r>
              <a:rPr lang="en-US" dirty="0" smtClean="0">
                <a:sym typeface="Wingdings" pitchFamily="2" charset="2"/>
              </a:rPr>
              <a:t> </a:t>
            </a:r>
            <a:endParaRPr lang="en-IN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LR Parsers: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LR Parsing is a bottom up parsing technique which can be used to parse a larger class of CFG.</a:t>
            </a:r>
          </a:p>
          <a:p>
            <a:r>
              <a:rPr lang="en-US" dirty="0" smtClean="0"/>
              <a:t>The technique of parsing is called as LR(K) parsing.</a:t>
            </a:r>
          </a:p>
          <a:p>
            <a:pPr lvl="1"/>
            <a:r>
              <a:rPr lang="en-US" dirty="0" smtClean="0"/>
              <a:t>Where ‘L’ stands for left to right scanning of the input.</a:t>
            </a:r>
          </a:p>
          <a:p>
            <a:pPr lvl="1"/>
            <a:r>
              <a:rPr lang="en-US" dirty="0" smtClean="0"/>
              <a:t>‘R’ – right most derivation in reverse.</a:t>
            </a:r>
          </a:p>
          <a:p>
            <a:pPr lvl="1"/>
            <a:r>
              <a:rPr lang="en-US" dirty="0" smtClean="0"/>
              <a:t>‘K’ – number of input symbols of lookahead used in making parsing decisions.</a:t>
            </a:r>
          </a:p>
          <a:p>
            <a:pPr lvl="2"/>
            <a:r>
              <a:rPr lang="en-US" dirty="0" smtClean="0"/>
              <a:t>If K is not specified it is assumed to be 1.</a:t>
            </a:r>
            <a:endParaRPr lang="en-IN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LR Parsers: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three representatives of this family are</a:t>
            </a:r>
          </a:p>
          <a:p>
            <a:pPr lvl="1"/>
            <a:r>
              <a:rPr lang="en-US" dirty="0" smtClean="0"/>
              <a:t>SLR- Simple LR</a:t>
            </a:r>
          </a:p>
          <a:p>
            <a:pPr lvl="1"/>
            <a:r>
              <a:rPr lang="en-US" dirty="0" smtClean="0"/>
              <a:t>LR – Canonical LR</a:t>
            </a:r>
          </a:p>
          <a:p>
            <a:pPr lvl="1"/>
            <a:r>
              <a:rPr lang="en-US" dirty="0" smtClean="0"/>
              <a:t>LALR – Lookahead LR</a:t>
            </a:r>
            <a:endParaRPr lang="en-IN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a LR Parser: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0934" y="1981200"/>
            <a:ext cx="7999694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590550"/>
          </a:xfrm>
        </p:spPr>
        <p:txBody>
          <a:bodyPr/>
          <a:lstStyle/>
          <a:p>
            <a:r>
              <a:rPr lang="en-US" sz="3600" dirty="0" smtClean="0"/>
              <a:t>LR Parsing Program: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1"/>
          </a:xfrm>
        </p:spPr>
        <p:txBody>
          <a:bodyPr/>
          <a:lstStyle/>
          <a:p>
            <a:r>
              <a:rPr lang="en-US" sz="1600" b="1" dirty="0" smtClean="0"/>
              <a:t>Input:</a:t>
            </a:r>
            <a:r>
              <a:rPr lang="en-US" sz="1600" dirty="0" smtClean="0"/>
              <a:t> An input string </a:t>
            </a:r>
            <a:r>
              <a:rPr lang="en-US" sz="1600" i="1" dirty="0" smtClean="0"/>
              <a:t>w</a:t>
            </a:r>
            <a:r>
              <a:rPr lang="en-US" sz="1600" dirty="0" smtClean="0"/>
              <a:t> and LR parsing table with function action and goto for a grammar G.</a:t>
            </a:r>
          </a:p>
          <a:p>
            <a:r>
              <a:rPr lang="en-US" sz="1600" b="1" dirty="0" smtClean="0"/>
              <a:t>Method: </a:t>
            </a:r>
          </a:p>
          <a:p>
            <a:pPr lvl="1"/>
            <a:r>
              <a:rPr lang="en-US" sz="1600" dirty="0" smtClean="0"/>
              <a:t>Let </a:t>
            </a:r>
            <a:r>
              <a:rPr lang="en-US" sz="1600" i="1" dirty="0" smtClean="0"/>
              <a:t>S</a:t>
            </a:r>
            <a:r>
              <a:rPr lang="en-US" sz="1600" dirty="0" smtClean="0"/>
              <a:t> be the state on top of the stack and </a:t>
            </a:r>
            <a:r>
              <a:rPr lang="en-US" sz="1600" i="1" dirty="0" smtClean="0"/>
              <a:t>a</a:t>
            </a:r>
            <a:r>
              <a:rPr lang="en-US" sz="1600" dirty="0" smtClean="0"/>
              <a:t> the symbol pointed by </a:t>
            </a:r>
            <a:r>
              <a:rPr lang="en-US" sz="1600" i="1" dirty="0" err="1" smtClean="0"/>
              <a:t>ip</a:t>
            </a:r>
            <a:r>
              <a:rPr lang="en-US" sz="1600" dirty="0" smtClean="0"/>
              <a:t>.</a:t>
            </a:r>
          </a:p>
          <a:p>
            <a:pPr lvl="1"/>
            <a:r>
              <a:rPr lang="en-US" sz="1600" dirty="0" smtClean="0"/>
              <a:t>if action[S, a] =shift S’ then begin</a:t>
            </a:r>
          </a:p>
          <a:p>
            <a:pPr lvl="2"/>
            <a:r>
              <a:rPr lang="en-US" sz="1600" dirty="0" smtClean="0"/>
              <a:t>Push </a:t>
            </a:r>
            <a:r>
              <a:rPr lang="en-US" sz="1600" i="1" dirty="0" smtClean="0"/>
              <a:t>a</a:t>
            </a:r>
            <a:r>
              <a:rPr lang="en-US" sz="1600" dirty="0" smtClean="0"/>
              <a:t> then S’ on top of the stack;</a:t>
            </a:r>
          </a:p>
          <a:p>
            <a:pPr lvl="2"/>
            <a:r>
              <a:rPr lang="en-US" sz="1600" dirty="0" smtClean="0"/>
              <a:t>advance </a:t>
            </a:r>
            <a:r>
              <a:rPr lang="en-US" sz="1600" i="1" dirty="0" err="1" smtClean="0"/>
              <a:t>ip</a:t>
            </a:r>
            <a:r>
              <a:rPr lang="en-US" sz="1600" dirty="0" smtClean="0"/>
              <a:t> to the next input symbol</a:t>
            </a:r>
          </a:p>
          <a:p>
            <a:pPr lvl="2"/>
            <a:r>
              <a:rPr lang="en-US" sz="1600" dirty="0" smtClean="0"/>
              <a:t>end</a:t>
            </a:r>
          </a:p>
          <a:p>
            <a:pPr lvl="1"/>
            <a:r>
              <a:rPr lang="en-US" sz="1600" dirty="0" smtClean="0"/>
              <a:t>e</a:t>
            </a:r>
            <a:r>
              <a:rPr lang="en-US" sz="1600" dirty="0" smtClean="0"/>
              <a:t>lse if  action[S, a]= reduce A</a:t>
            </a:r>
            <a:r>
              <a:rPr lang="en-US" sz="1600" dirty="0" smtClean="0">
                <a:sym typeface="Wingdings" pitchFamily="2" charset="2"/>
              </a:rPr>
              <a:t> </a:t>
            </a:r>
            <a:r>
              <a:rPr lang="en-US" sz="1600" dirty="0" smtClean="0">
                <a:sym typeface="Wingdings" pitchFamily="2" charset="2"/>
              </a:rPr>
              <a:t>ß then </a:t>
            </a:r>
            <a:r>
              <a:rPr lang="en-US" sz="1600" dirty="0" smtClean="0">
                <a:sym typeface="Wingdings" pitchFamily="2" charset="2"/>
              </a:rPr>
              <a:t>begin</a:t>
            </a:r>
          </a:p>
          <a:p>
            <a:pPr lvl="2"/>
            <a:r>
              <a:rPr lang="en-US" sz="1600" dirty="0" smtClean="0">
                <a:sym typeface="Wingdings" pitchFamily="2" charset="2"/>
              </a:rPr>
              <a:t>pop 2*|</a:t>
            </a:r>
            <a:r>
              <a:rPr lang="en-US" sz="1600" dirty="0" smtClean="0">
                <a:sym typeface="Wingdings" pitchFamily="2" charset="2"/>
              </a:rPr>
              <a:t> ß </a:t>
            </a:r>
            <a:r>
              <a:rPr lang="en-US" sz="1600" dirty="0" smtClean="0">
                <a:sym typeface="Wingdings" pitchFamily="2" charset="2"/>
              </a:rPr>
              <a:t>| symbols off the stack;</a:t>
            </a:r>
          </a:p>
          <a:p>
            <a:pPr lvl="2"/>
            <a:r>
              <a:rPr lang="en-US" sz="1600" dirty="0" smtClean="0">
                <a:sym typeface="Wingdings" pitchFamily="2" charset="2"/>
              </a:rPr>
              <a:t>let S’ be the state now on top of the stack;</a:t>
            </a:r>
          </a:p>
          <a:p>
            <a:pPr lvl="2"/>
            <a:r>
              <a:rPr lang="en-US" sz="1600" dirty="0" smtClean="0">
                <a:sym typeface="Wingdings" pitchFamily="2" charset="2"/>
              </a:rPr>
              <a:t>push </a:t>
            </a:r>
            <a:r>
              <a:rPr lang="en-US" sz="1600" i="1" dirty="0" smtClean="0">
                <a:sym typeface="Wingdings" pitchFamily="2" charset="2"/>
              </a:rPr>
              <a:t>A</a:t>
            </a:r>
            <a:r>
              <a:rPr lang="en-US" sz="1600" dirty="0" smtClean="0">
                <a:sym typeface="Wingdings" pitchFamily="2" charset="2"/>
              </a:rPr>
              <a:t> then goto[S’, A] on top of the stack;</a:t>
            </a:r>
          </a:p>
          <a:p>
            <a:pPr lvl="2"/>
            <a:r>
              <a:rPr lang="en-US" sz="1600" dirty="0" smtClean="0">
                <a:sym typeface="Wingdings" pitchFamily="2" charset="2"/>
              </a:rPr>
              <a:t>output the production </a:t>
            </a:r>
            <a:r>
              <a:rPr lang="en-US" sz="1600" dirty="0" smtClean="0"/>
              <a:t>A</a:t>
            </a:r>
            <a:r>
              <a:rPr lang="en-US" sz="1600" dirty="0" smtClean="0">
                <a:sym typeface="Wingdings" pitchFamily="2" charset="2"/>
              </a:rPr>
              <a:t> </a:t>
            </a:r>
            <a:r>
              <a:rPr lang="en-US" sz="1600" dirty="0" smtClean="0">
                <a:sym typeface="Wingdings" pitchFamily="2" charset="2"/>
              </a:rPr>
              <a:t>ß;</a:t>
            </a:r>
          </a:p>
          <a:p>
            <a:pPr lvl="2"/>
            <a:r>
              <a:rPr lang="en-US" sz="1600" dirty="0" smtClean="0"/>
              <a:t>end</a:t>
            </a:r>
          </a:p>
          <a:p>
            <a:pPr lvl="1"/>
            <a:r>
              <a:rPr lang="en-US" sz="1600" dirty="0" smtClean="0"/>
              <a:t>else if action[S, a]= accept then return</a:t>
            </a:r>
            <a:endParaRPr lang="en-US" sz="1600" dirty="0" smtClean="0"/>
          </a:p>
          <a:p>
            <a:pPr lvl="1"/>
            <a:r>
              <a:rPr lang="en-US" sz="1600" dirty="0" smtClean="0"/>
              <a:t>else error()</a:t>
            </a:r>
          </a:p>
          <a:p>
            <a:pPr lvl="1"/>
            <a:r>
              <a:rPr lang="en-US" sz="1600" dirty="0" smtClean="0"/>
              <a:t>end</a:t>
            </a:r>
            <a:endParaRPr lang="en-IN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579</TotalTime>
  <Words>3251</Words>
  <Application>Microsoft Office PowerPoint</Application>
  <PresentationFormat>On-screen Show (4:3)</PresentationFormat>
  <Paragraphs>922</Paragraphs>
  <Slides>67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Flow</vt:lpstr>
      <vt:lpstr>Syntax Analysis</vt:lpstr>
      <vt:lpstr>PARSING:</vt:lpstr>
      <vt:lpstr>Parse tree:</vt:lpstr>
      <vt:lpstr>Types of parsing:</vt:lpstr>
      <vt:lpstr>TOP-DOWN PARSING:</vt:lpstr>
      <vt:lpstr>RECURSIVE DESCENT PARSING:</vt:lpstr>
      <vt:lpstr>Example for recursive decent parsing:</vt:lpstr>
      <vt:lpstr>Example for recursive decent parsing:</vt:lpstr>
      <vt:lpstr>Example for recursive decent parsing:</vt:lpstr>
      <vt:lpstr>Example for recursive decent parsing:</vt:lpstr>
      <vt:lpstr>Example for recursive decent parsing:</vt:lpstr>
      <vt:lpstr>Example for recursive decent parsing:</vt:lpstr>
      <vt:lpstr>Recursive Decent Parser:</vt:lpstr>
      <vt:lpstr>Recursive Decent Parser:</vt:lpstr>
      <vt:lpstr>Stack implementation:</vt:lpstr>
      <vt:lpstr>PREDICTIVE PARSING:</vt:lpstr>
      <vt:lpstr>Non-recursive predictive parser:</vt:lpstr>
      <vt:lpstr>Non-recursive predictive parser:</vt:lpstr>
      <vt:lpstr>Predictive parsing program:</vt:lpstr>
      <vt:lpstr>Algorithm for construction of predictive parsing table:</vt:lpstr>
      <vt:lpstr>Construction of predictive parsing table:</vt:lpstr>
      <vt:lpstr>Construction of predictive parsing table:</vt:lpstr>
      <vt:lpstr>Construction of predictive parsing table:</vt:lpstr>
      <vt:lpstr>Construction of predictive parsing table:</vt:lpstr>
      <vt:lpstr>Construction of predictive parsing table:</vt:lpstr>
      <vt:lpstr>Construction of predictive parsing table:</vt:lpstr>
      <vt:lpstr>Construction of predictive parsing table:</vt:lpstr>
      <vt:lpstr>Construction of predictive parsing table:</vt:lpstr>
      <vt:lpstr>Construction of predictive parsing table:</vt:lpstr>
      <vt:lpstr>Construction of predictive parsing table:</vt:lpstr>
      <vt:lpstr>Stack implementation: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Construction of predictive parsing table: Not LL(1)</vt:lpstr>
      <vt:lpstr>Construction of predictive parsing table:</vt:lpstr>
      <vt:lpstr>Construction of predictive parsing table:</vt:lpstr>
      <vt:lpstr>Bottom Up Parsing:</vt:lpstr>
      <vt:lpstr>Bottom Up Parsing:</vt:lpstr>
      <vt:lpstr>Bottom Up Parsing:</vt:lpstr>
      <vt:lpstr>Bottom Up Parsing:</vt:lpstr>
      <vt:lpstr>Handle Pruning: </vt:lpstr>
      <vt:lpstr>Shift Reduce Parser:</vt:lpstr>
      <vt:lpstr>Shift Reduce Parser:</vt:lpstr>
      <vt:lpstr>Shift Reduce Parser:</vt:lpstr>
      <vt:lpstr>LR Parsers:</vt:lpstr>
      <vt:lpstr>LR Parsers:</vt:lpstr>
      <vt:lpstr>Structure of a LR Parser:</vt:lpstr>
      <vt:lpstr>LR Parsing Program: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Syntax Analysis</dc:title>
  <dc:creator>VIT-IT</dc:creator>
  <cp:lastModifiedBy>VIT-IT</cp:lastModifiedBy>
  <cp:revision>142</cp:revision>
  <dcterms:created xsi:type="dcterms:W3CDTF">2006-08-16T00:00:00Z</dcterms:created>
  <dcterms:modified xsi:type="dcterms:W3CDTF">2023-08-24T09:25:48Z</dcterms:modified>
</cp:coreProperties>
</file>