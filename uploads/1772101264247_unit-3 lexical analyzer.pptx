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2" r:id="rId3"/>
    <p:sldId id="273" r:id="rId4"/>
    <p:sldId id="275" r:id="rId5"/>
    <p:sldId id="274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85" r:id="rId25"/>
    <p:sldId id="267" r:id="rId26"/>
    <p:sldId id="268" r:id="rId27"/>
    <p:sldId id="269" r:id="rId28"/>
    <p:sldId id="270" r:id="rId29"/>
    <p:sldId id="271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Lexical Analyzer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Lexical Analyzer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Reads each character in the source program and groups them as a string called as token. </a:t>
            </a:r>
            <a:endParaRPr lang="en-IN" dirty="0" smtClean="0"/>
          </a:p>
          <a:p>
            <a:r>
              <a:rPr lang="en-US" dirty="0" smtClean="0"/>
              <a:t>Lexical analysis not only recognizes tokens but also the code and value for that token.</a:t>
            </a:r>
          </a:p>
          <a:p>
            <a:r>
              <a:rPr lang="en-US" dirty="0" smtClean="0"/>
              <a:t>The value place contains a pointer to the symbol table where the actual value is stored. </a:t>
            </a:r>
          </a:p>
          <a:p>
            <a:r>
              <a:rPr lang="en-US" dirty="0" smtClean="0"/>
              <a:t>If it is not stored before, it gets stored in the symbol table and a pointer is returned.</a:t>
            </a: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400" dirty="0" smtClean="0"/>
              <a:t>The Role Of The Lexical Analyzer: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590800"/>
            <a:ext cx="7668578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Tokens, Patterns and Lexemes: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Tokens: </a:t>
            </a:r>
            <a:r>
              <a:rPr lang="en-IN" dirty="0" smtClean="0"/>
              <a:t>It is basically a sequence of characters that are treated as a unit as it cannot be further broken down.</a:t>
            </a:r>
          </a:p>
          <a:p>
            <a:pPr lvl="1"/>
            <a:r>
              <a:rPr lang="en-US" dirty="0" smtClean="0"/>
              <a:t>Ex: </a:t>
            </a:r>
            <a:r>
              <a:rPr lang="en-IN" dirty="0" smtClean="0"/>
              <a:t>In programming languages like C language- keywords (</a:t>
            </a:r>
            <a:r>
              <a:rPr lang="en-IN" dirty="0" err="1" smtClean="0"/>
              <a:t>int</a:t>
            </a:r>
            <a:r>
              <a:rPr lang="en-IN" dirty="0" smtClean="0"/>
              <a:t>, char, float, const, </a:t>
            </a:r>
            <a:r>
              <a:rPr lang="en-IN" dirty="0" err="1" smtClean="0"/>
              <a:t>goto</a:t>
            </a:r>
            <a:r>
              <a:rPr lang="en-IN" dirty="0" smtClean="0"/>
              <a:t>, continue, etc.) identifiers (user-defined names)</a:t>
            </a:r>
            <a:endParaRPr lang="en-US" dirty="0" smtClean="0"/>
          </a:p>
          <a:p>
            <a:r>
              <a:rPr lang="en-US" dirty="0" smtClean="0"/>
              <a:t>Patterns: </a:t>
            </a:r>
            <a:r>
              <a:rPr lang="en-IN" dirty="0" smtClean="0"/>
              <a:t>It specifies a set of rules that a scanner follows to create a token.</a:t>
            </a:r>
            <a:endParaRPr lang="en-US" dirty="0" smtClean="0"/>
          </a:p>
          <a:p>
            <a:r>
              <a:rPr lang="en-US" dirty="0" smtClean="0"/>
              <a:t>Lexemes: Sequence of characters in the source program that is matched by the pattern for a token.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886712"/>
          </a:xfrm>
        </p:spPr>
        <p:txBody>
          <a:bodyPr>
            <a:normAutofit/>
          </a:bodyPr>
          <a:lstStyle/>
          <a:p>
            <a:r>
              <a:rPr lang="en-US" dirty="0" smtClean="0"/>
              <a:t>Tokens, Patterns and Lexeme:</a:t>
            </a:r>
            <a:br>
              <a:rPr lang="en-US" dirty="0" smtClean="0"/>
            </a:br>
            <a:r>
              <a:rPr lang="en-US" dirty="0" smtClean="0"/>
              <a:t>const Pi:=3.14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914400" y="3200400"/>
          <a:ext cx="68580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447800"/>
                <a:gridCol w="1828800"/>
                <a:gridCol w="2667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Lexeme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Token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Pattern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Keyword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Letter followed</a:t>
                      </a:r>
                      <a:r>
                        <a:rPr lang="en-US" baseline="0" dirty="0" smtClean="0"/>
                        <a:t> by letter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Identifier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Letter followed by letter or digit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:=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Operator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Equal to</a:t>
                      </a:r>
                      <a:r>
                        <a:rPr lang="en-US" baseline="0" dirty="0" smtClean="0"/>
                        <a:t> Operator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3.14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Constant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Digit followed by dot &amp; digit followed by digit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Specification of Tokens: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Symbols: A symbol can be an alphabet or a digit.</a:t>
            </a:r>
          </a:p>
          <a:p>
            <a:pPr lvl="1"/>
            <a:r>
              <a:rPr lang="en-US" dirty="0" smtClean="0"/>
              <a:t>Ex: a, b, 0, *,……… </a:t>
            </a:r>
          </a:p>
          <a:p>
            <a:r>
              <a:rPr lang="en-US" dirty="0" smtClean="0"/>
              <a:t>Word or String(W): A group of symbols forms a word or string.</a:t>
            </a:r>
          </a:p>
          <a:p>
            <a:pPr lvl="1"/>
            <a:r>
              <a:rPr lang="en-US" dirty="0" smtClean="0"/>
              <a:t>Ex: w=</a:t>
            </a:r>
            <a:r>
              <a:rPr lang="en-US" dirty="0" err="1" smtClean="0"/>
              <a:t>ab</a:t>
            </a:r>
            <a:r>
              <a:rPr lang="en-US" dirty="0" smtClean="0"/>
              <a:t>, 011………</a:t>
            </a:r>
          </a:p>
          <a:p>
            <a:pPr lvl="1"/>
            <a:r>
              <a:rPr lang="en-US" dirty="0" smtClean="0"/>
              <a:t>Є denote empty string.</a:t>
            </a:r>
          </a:p>
          <a:p>
            <a:r>
              <a:rPr lang="en-US" dirty="0" smtClean="0"/>
              <a:t>Length of the string |w|: The number of symbols in a string. </a:t>
            </a:r>
          </a:p>
          <a:p>
            <a:pPr lvl="1"/>
            <a:r>
              <a:rPr lang="en-US" dirty="0" smtClean="0"/>
              <a:t>W=</a:t>
            </a:r>
            <a:r>
              <a:rPr lang="en-US" dirty="0" err="1" smtClean="0"/>
              <a:t>abc</a:t>
            </a:r>
            <a:r>
              <a:rPr lang="en-US" dirty="0" smtClean="0"/>
              <a:t>	</a:t>
            </a:r>
            <a:r>
              <a:rPr lang="en-US" dirty="0" err="1" smtClean="0"/>
              <a:t>i.e</a:t>
            </a:r>
            <a:r>
              <a:rPr lang="en-US" dirty="0" smtClean="0"/>
              <a:t> |w|=3</a:t>
            </a:r>
          </a:p>
          <a:p>
            <a:r>
              <a:rPr lang="en-US" dirty="0" smtClean="0"/>
              <a:t>Language: The term language denotes any set of strings over fixed alphabet.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Regular Expression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The language accepted by finite automata are easily described by simple expressions called regular expressions.</a:t>
            </a:r>
          </a:p>
          <a:p>
            <a:r>
              <a:rPr lang="en-US" dirty="0" smtClean="0"/>
              <a:t>Definition:</a:t>
            </a:r>
          </a:p>
          <a:p>
            <a:pPr marL="850392" lvl="1" indent="-457200">
              <a:buNone/>
            </a:pPr>
            <a:r>
              <a:rPr lang="en-US" dirty="0" smtClean="0"/>
              <a:t>1.    a) </a:t>
            </a:r>
            <a:r>
              <a:rPr lang="el-GR" dirty="0" smtClean="0"/>
              <a:t>φ</a:t>
            </a:r>
            <a:r>
              <a:rPr lang="en-US" dirty="0" smtClean="0"/>
              <a:t> is a regular expression that denotes an empty set.</a:t>
            </a:r>
          </a:p>
          <a:p>
            <a:pPr marL="850392" lvl="1" indent="-457200">
              <a:buNone/>
            </a:pPr>
            <a:r>
              <a:rPr lang="en-US" dirty="0" smtClean="0"/>
              <a:t>	b) Є is a regular expression that denotes the set {Є}.</a:t>
            </a:r>
          </a:p>
          <a:p>
            <a:pPr marL="850392" lvl="1" indent="-457200">
              <a:buNone/>
            </a:pPr>
            <a:r>
              <a:rPr lang="en-US" dirty="0" smtClean="0"/>
              <a:t>	c) for each ‘a’ in ∑,  a is a regular expression that denotes {a}.</a:t>
            </a:r>
          </a:p>
          <a:p>
            <a:pPr marL="850392" lvl="1" indent="-457200">
              <a:buNone/>
            </a:pPr>
            <a:r>
              <a:rPr lang="en-US" dirty="0" smtClean="0"/>
              <a:t>2. If ‘r’ and ‘s’ are regular expressions denoting the languages R &amp; S respectively then </a:t>
            </a:r>
            <a:r>
              <a:rPr lang="en-US" dirty="0" err="1" smtClean="0"/>
              <a:t>r+s</a:t>
            </a:r>
            <a:r>
              <a:rPr lang="en-US" dirty="0" smtClean="0"/>
              <a:t>, </a:t>
            </a:r>
            <a:r>
              <a:rPr lang="en-US" dirty="0" err="1" smtClean="0"/>
              <a:t>rs</a:t>
            </a:r>
            <a:r>
              <a:rPr lang="en-US" dirty="0" smtClean="0"/>
              <a:t> and r* are regular expressions that denotes the set RUS, RS and R*.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Identities for regular expression: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en-IN" dirty="0" smtClean="0"/>
              <a:t>∅ + r = r</a:t>
            </a:r>
          </a:p>
          <a:p>
            <a:pPr fontAlgn="base"/>
            <a:r>
              <a:rPr lang="en-IN" dirty="0" smtClean="0"/>
              <a:t>∅.r= r.∅ = ∅</a:t>
            </a:r>
          </a:p>
          <a:p>
            <a:pPr fontAlgn="base"/>
            <a:r>
              <a:rPr lang="en-IN" dirty="0" smtClean="0"/>
              <a:t>∈.r = r.∈ =r</a:t>
            </a:r>
          </a:p>
          <a:p>
            <a:pPr fontAlgn="base"/>
            <a:r>
              <a:rPr lang="en-IN" dirty="0" smtClean="0"/>
              <a:t>∈* = ∈ and ∅* = ∈</a:t>
            </a:r>
          </a:p>
          <a:p>
            <a:pPr fontAlgn="base"/>
            <a:r>
              <a:rPr lang="en-IN" dirty="0" smtClean="0"/>
              <a:t>r + r = r</a:t>
            </a:r>
          </a:p>
          <a:p>
            <a:pPr fontAlgn="base"/>
            <a:r>
              <a:rPr lang="en-IN" dirty="0" smtClean="0"/>
              <a:t>r*.r* = r*</a:t>
            </a:r>
          </a:p>
          <a:p>
            <a:pPr fontAlgn="base"/>
            <a:r>
              <a:rPr lang="en-IN" dirty="0" err="1" smtClean="0"/>
              <a:t>r.r</a:t>
            </a:r>
            <a:r>
              <a:rPr lang="en-IN" dirty="0" smtClean="0"/>
              <a:t>* = r*.r = r</a:t>
            </a:r>
            <a:r>
              <a:rPr lang="en-IN" baseline="30000" dirty="0" smtClean="0"/>
              <a:t>+</a:t>
            </a:r>
            <a:r>
              <a:rPr lang="en-IN" dirty="0" smtClean="0"/>
              <a:t>.</a:t>
            </a:r>
          </a:p>
          <a:p>
            <a:pPr fontAlgn="base"/>
            <a:r>
              <a:rPr lang="en-IN" dirty="0" smtClean="0"/>
              <a:t>(r*)*  =  r*</a:t>
            </a:r>
          </a:p>
          <a:p>
            <a:pPr fontAlgn="base"/>
            <a:r>
              <a:rPr lang="en-IN" dirty="0" smtClean="0"/>
              <a:t>∈ +</a:t>
            </a:r>
            <a:r>
              <a:rPr lang="en-IN" dirty="0" err="1" smtClean="0"/>
              <a:t>r.r</a:t>
            </a:r>
            <a:r>
              <a:rPr lang="en-IN" dirty="0" smtClean="0"/>
              <a:t>* = r* = ∈ + </a:t>
            </a:r>
            <a:r>
              <a:rPr lang="en-IN" dirty="0" err="1" smtClean="0"/>
              <a:t>r.r</a:t>
            </a:r>
            <a:r>
              <a:rPr lang="en-IN" dirty="0" smtClean="0"/>
              <a:t>*</a:t>
            </a:r>
          </a:p>
          <a:p>
            <a:pPr fontAlgn="base"/>
            <a:r>
              <a:rPr lang="en-IN" dirty="0" smtClean="0"/>
              <a:t>(</a:t>
            </a:r>
            <a:r>
              <a:rPr lang="en-IN" dirty="0" err="1" smtClean="0"/>
              <a:t>p.q</a:t>
            </a:r>
            <a:r>
              <a:rPr lang="en-IN" dirty="0" smtClean="0"/>
              <a:t>)*.p = p.(</a:t>
            </a:r>
            <a:r>
              <a:rPr lang="en-IN" dirty="0" err="1" smtClean="0"/>
              <a:t>q.p</a:t>
            </a:r>
            <a:r>
              <a:rPr lang="en-IN" dirty="0" smtClean="0"/>
              <a:t>)*</a:t>
            </a:r>
          </a:p>
          <a:p>
            <a:pPr fontAlgn="base"/>
            <a:r>
              <a:rPr lang="en-IN" dirty="0" smtClean="0"/>
              <a:t>(p + q)* = (p*.q*)* = (p* + q*)*</a:t>
            </a:r>
          </a:p>
          <a:p>
            <a:pPr fontAlgn="base"/>
            <a:r>
              <a:rPr lang="en-IN" dirty="0" smtClean="0"/>
              <a:t>(p+ q).r= </a:t>
            </a:r>
            <a:r>
              <a:rPr lang="en-IN" dirty="0" err="1" smtClean="0"/>
              <a:t>p.r</a:t>
            </a:r>
            <a:r>
              <a:rPr lang="en-IN" dirty="0" smtClean="0"/>
              <a:t>+ </a:t>
            </a:r>
            <a:r>
              <a:rPr lang="en-IN" dirty="0" err="1" smtClean="0"/>
              <a:t>q.r</a:t>
            </a:r>
            <a:r>
              <a:rPr lang="en-IN" dirty="0" smtClean="0"/>
              <a:t> and r.(</a:t>
            </a:r>
            <a:r>
              <a:rPr lang="en-IN" dirty="0" err="1" smtClean="0"/>
              <a:t>p+q</a:t>
            </a:r>
            <a:r>
              <a:rPr lang="en-IN" dirty="0" smtClean="0"/>
              <a:t>) = </a:t>
            </a:r>
            <a:r>
              <a:rPr lang="en-IN" dirty="0" err="1" smtClean="0"/>
              <a:t>r.p</a:t>
            </a:r>
            <a:r>
              <a:rPr lang="en-IN" dirty="0" smtClean="0"/>
              <a:t> + </a:t>
            </a:r>
            <a:r>
              <a:rPr lang="en-IN" dirty="0" err="1" smtClean="0"/>
              <a:t>r.q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Regular definitions: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None/>
            </a:pPr>
            <a:r>
              <a:rPr lang="en-US" dirty="0" smtClean="0"/>
              <a:t>d1 -&gt; r1</a:t>
            </a:r>
          </a:p>
          <a:p>
            <a:pPr marL="514350" indent="-514350" algn="just">
              <a:buNone/>
            </a:pPr>
            <a:r>
              <a:rPr lang="en-US" dirty="0" smtClean="0"/>
              <a:t>d2 -&gt; r2</a:t>
            </a:r>
          </a:p>
          <a:p>
            <a:pPr marL="514350" indent="-514350" algn="just">
              <a:buNone/>
            </a:pPr>
            <a:r>
              <a:rPr lang="en-US" dirty="0" smtClean="0"/>
              <a:t>…</a:t>
            </a:r>
          </a:p>
          <a:p>
            <a:pPr marL="514350" indent="-514350" algn="just">
              <a:buNone/>
            </a:pPr>
            <a:r>
              <a:rPr lang="en-US" dirty="0" err="1" smtClean="0"/>
              <a:t>dn</a:t>
            </a:r>
            <a:r>
              <a:rPr lang="en-US" dirty="0" smtClean="0"/>
              <a:t> -&gt; </a:t>
            </a:r>
            <a:r>
              <a:rPr lang="en-US" dirty="0" err="1" smtClean="0"/>
              <a:t>rn</a:t>
            </a:r>
            <a:endParaRPr lang="en-US" dirty="0" smtClean="0"/>
          </a:p>
          <a:p>
            <a:pPr marL="514350" indent="-514350" algn="just">
              <a:buNone/>
            </a:pPr>
            <a:endParaRPr lang="en-US" dirty="0" smtClean="0"/>
          </a:p>
          <a:p>
            <a:pPr marL="514350" indent="-514350" algn="just"/>
            <a:r>
              <a:rPr lang="en-US" dirty="0" smtClean="0"/>
              <a:t>Example:</a:t>
            </a:r>
          </a:p>
          <a:p>
            <a:pPr marL="881063" lvl="1" indent="-514350" algn="just">
              <a:buNone/>
            </a:pPr>
            <a:r>
              <a:rPr lang="en-US" dirty="0" smtClean="0"/>
              <a:t>letter_ -&gt; A | B | … | Z | a | b | … | Z | _</a:t>
            </a:r>
          </a:p>
          <a:p>
            <a:pPr marL="881063" lvl="1" indent="-514350" algn="just">
              <a:buNone/>
            </a:pPr>
            <a:r>
              <a:rPr lang="en-US" dirty="0" smtClean="0"/>
              <a:t>digit     -&gt; 0 | 1 | … | 9</a:t>
            </a:r>
          </a:p>
          <a:p>
            <a:pPr marL="881063" lvl="1" indent="-514350" algn="just">
              <a:buNone/>
            </a:pPr>
            <a:r>
              <a:rPr lang="en-US" dirty="0" smtClean="0"/>
              <a:t>id          -&gt; letter_ (letter_ | digit)*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Recognition of tokens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Starting point is the language grammar to understand the tokens:</a:t>
            </a:r>
          </a:p>
          <a:p>
            <a:pPr lvl="1">
              <a:buNone/>
            </a:pPr>
            <a:r>
              <a:rPr lang="en-US" dirty="0" smtClean="0"/>
              <a:t>stmt -&gt; </a:t>
            </a:r>
            <a:r>
              <a:rPr lang="en-US" b="1" dirty="0" smtClean="0"/>
              <a:t>if</a:t>
            </a:r>
            <a:r>
              <a:rPr lang="en-US" dirty="0" smtClean="0"/>
              <a:t> </a:t>
            </a:r>
            <a:r>
              <a:rPr lang="en-US" dirty="0" err="1" smtClean="0"/>
              <a:t>expr</a:t>
            </a:r>
            <a:r>
              <a:rPr lang="en-US" dirty="0" smtClean="0"/>
              <a:t> </a:t>
            </a:r>
            <a:r>
              <a:rPr lang="en-US" b="1" dirty="0" smtClean="0"/>
              <a:t>then</a:t>
            </a:r>
            <a:r>
              <a:rPr lang="en-US" dirty="0" smtClean="0"/>
              <a:t> stmt</a:t>
            </a:r>
          </a:p>
          <a:p>
            <a:pPr lvl="1">
              <a:buNone/>
            </a:pPr>
            <a:r>
              <a:rPr lang="en-US" dirty="0" smtClean="0"/>
              <a:t>           |  </a:t>
            </a:r>
            <a:r>
              <a:rPr lang="en-US" b="1" dirty="0" smtClean="0"/>
              <a:t>if</a:t>
            </a:r>
            <a:r>
              <a:rPr lang="en-US" dirty="0" smtClean="0"/>
              <a:t> </a:t>
            </a:r>
            <a:r>
              <a:rPr lang="en-US" dirty="0" err="1" smtClean="0"/>
              <a:t>expr</a:t>
            </a:r>
            <a:r>
              <a:rPr lang="en-US" dirty="0" smtClean="0"/>
              <a:t> </a:t>
            </a:r>
            <a:r>
              <a:rPr lang="en-US" b="1" dirty="0" smtClean="0"/>
              <a:t>then</a:t>
            </a:r>
            <a:r>
              <a:rPr lang="en-US" dirty="0" smtClean="0"/>
              <a:t> stmt </a:t>
            </a:r>
            <a:r>
              <a:rPr lang="en-US" b="1" dirty="0" smtClean="0"/>
              <a:t>else</a:t>
            </a:r>
            <a:r>
              <a:rPr lang="en-US" dirty="0" smtClean="0"/>
              <a:t> stmt</a:t>
            </a:r>
          </a:p>
          <a:p>
            <a:pPr lvl="1">
              <a:buNone/>
            </a:pPr>
            <a:r>
              <a:rPr lang="en-US" dirty="0" smtClean="0"/>
              <a:t>           | </a:t>
            </a:r>
            <a:r>
              <a:rPr lang="en-US" sz="1600" dirty="0" smtClean="0">
                <a:latin typeface="MS Mincho" pitchFamily="49" charset="-128"/>
                <a:ea typeface="MS Mincho" pitchFamily="49" charset="-128"/>
              </a:rPr>
              <a:t>Ɛ</a:t>
            </a:r>
            <a:endParaRPr lang="en-US" sz="1600" dirty="0" smtClean="0"/>
          </a:p>
          <a:p>
            <a:pPr lvl="1">
              <a:buNone/>
            </a:pPr>
            <a:r>
              <a:rPr lang="en-US" dirty="0" err="1" smtClean="0"/>
              <a:t>expr</a:t>
            </a:r>
            <a:r>
              <a:rPr lang="en-US" dirty="0" smtClean="0"/>
              <a:t> -&gt; term </a:t>
            </a:r>
            <a:r>
              <a:rPr lang="en-US" b="1" dirty="0" err="1" smtClean="0"/>
              <a:t>relop</a:t>
            </a:r>
            <a:r>
              <a:rPr lang="en-US" dirty="0" smtClean="0"/>
              <a:t> term</a:t>
            </a:r>
          </a:p>
          <a:p>
            <a:pPr lvl="1">
              <a:buNone/>
            </a:pPr>
            <a:r>
              <a:rPr lang="en-US" dirty="0" smtClean="0"/>
              <a:t>           |  term</a:t>
            </a:r>
          </a:p>
          <a:p>
            <a:pPr lvl="1">
              <a:buNone/>
            </a:pPr>
            <a:r>
              <a:rPr lang="en-US" dirty="0" smtClean="0"/>
              <a:t>term -&gt; </a:t>
            </a:r>
            <a:r>
              <a:rPr lang="en-US" b="1" dirty="0" smtClean="0"/>
              <a:t>id</a:t>
            </a:r>
          </a:p>
          <a:p>
            <a:pPr lvl="1">
              <a:buNone/>
            </a:pPr>
            <a:r>
              <a:rPr lang="en-US" dirty="0" smtClean="0"/>
              <a:t>           |  </a:t>
            </a:r>
            <a:r>
              <a:rPr lang="en-US" b="1" dirty="0" smtClean="0"/>
              <a:t>number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Recognition of tokens (cont.)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next step is to formalize the patterns:</a:t>
            </a:r>
          </a:p>
          <a:p>
            <a:pPr lvl="1">
              <a:buNone/>
            </a:pPr>
            <a:r>
              <a:rPr lang="en-US" sz="1800" i="1" dirty="0" smtClean="0"/>
              <a:t>digit</a:t>
            </a:r>
            <a:r>
              <a:rPr lang="en-US" sz="1800" dirty="0" smtClean="0"/>
              <a:t>     -&gt; [0-9]</a:t>
            </a:r>
          </a:p>
          <a:p>
            <a:pPr lvl="1">
              <a:buNone/>
            </a:pPr>
            <a:r>
              <a:rPr lang="en-US" sz="1800" i="1" dirty="0" smtClean="0"/>
              <a:t>Digits</a:t>
            </a:r>
            <a:r>
              <a:rPr lang="en-US" sz="1800" dirty="0" smtClean="0"/>
              <a:t>   -&gt; digit+</a:t>
            </a:r>
          </a:p>
          <a:p>
            <a:pPr lvl="1">
              <a:buNone/>
            </a:pPr>
            <a:r>
              <a:rPr lang="en-US" sz="1800" i="1" dirty="0" smtClean="0"/>
              <a:t>number</a:t>
            </a:r>
            <a:r>
              <a:rPr lang="en-US" sz="1800" dirty="0" smtClean="0"/>
              <a:t> -&gt; digit(.digits)? (E[+-]? Digit)?</a:t>
            </a:r>
          </a:p>
          <a:p>
            <a:pPr lvl="1">
              <a:buNone/>
            </a:pPr>
            <a:r>
              <a:rPr lang="en-US" sz="1800" i="1" dirty="0" smtClean="0"/>
              <a:t>letter  </a:t>
            </a:r>
            <a:r>
              <a:rPr lang="en-US" sz="1800" dirty="0" smtClean="0"/>
              <a:t>-&gt; [A-</a:t>
            </a:r>
            <a:r>
              <a:rPr lang="en-US" sz="1800" dirty="0" err="1" smtClean="0"/>
              <a:t>Za</a:t>
            </a:r>
            <a:r>
              <a:rPr lang="en-US" sz="1800" dirty="0" smtClean="0"/>
              <a:t>-z_]</a:t>
            </a:r>
          </a:p>
          <a:p>
            <a:pPr lvl="1">
              <a:buNone/>
            </a:pPr>
            <a:r>
              <a:rPr lang="en-US" sz="1800" i="1" dirty="0" smtClean="0"/>
              <a:t>id</a:t>
            </a:r>
            <a:r>
              <a:rPr lang="en-US" sz="1800" dirty="0" smtClean="0"/>
              <a:t>          -&gt; letter (</a:t>
            </a:r>
            <a:r>
              <a:rPr lang="en-US" sz="1800" dirty="0" err="1" smtClean="0"/>
              <a:t>letter|digit</a:t>
            </a:r>
            <a:r>
              <a:rPr lang="en-US" sz="1800" dirty="0" smtClean="0"/>
              <a:t>)*</a:t>
            </a:r>
          </a:p>
          <a:p>
            <a:pPr lvl="1">
              <a:buNone/>
            </a:pPr>
            <a:r>
              <a:rPr lang="en-US" sz="1800" i="1" dirty="0" smtClean="0"/>
              <a:t>If</a:t>
            </a:r>
            <a:r>
              <a:rPr lang="en-US" sz="1800" dirty="0" smtClean="0"/>
              <a:t>           -&gt; if</a:t>
            </a:r>
          </a:p>
          <a:p>
            <a:pPr lvl="1">
              <a:buNone/>
            </a:pPr>
            <a:r>
              <a:rPr lang="en-US" sz="1800" i="1" dirty="0" smtClean="0"/>
              <a:t>Then</a:t>
            </a:r>
            <a:r>
              <a:rPr lang="en-US" sz="1800" dirty="0" smtClean="0"/>
              <a:t>     -&gt; then</a:t>
            </a:r>
          </a:p>
          <a:p>
            <a:pPr lvl="1">
              <a:buNone/>
            </a:pPr>
            <a:r>
              <a:rPr lang="en-US" sz="1800" i="1" dirty="0" smtClean="0"/>
              <a:t>Else</a:t>
            </a:r>
            <a:r>
              <a:rPr lang="en-US" sz="1800" dirty="0" smtClean="0"/>
              <a:t>       -&gt; else</a:t>
            </a:r>
          </a:p>
          <a:p>
            <a:pPr lvl="1">
              <a:buNone/>
            </a:pPr>
            <a:r>
              <a:rPr lang="en-US" sz="1800" i="1" dirty="0" err="1" smtClean="0"/>
              <a:t>Relop</a:t>
            </a:r>
            <a:r>
              <a:rPr lang="en-US" sz="1800" dirty="0" smtClean="0"/>
              <a:t>    -&gt; &lt; | &gt; | &lt;= | &gt;= | = | &lt;&gt;</a:t>
            </a:r>
          </a:p>
          <a:p>
            <a:r>
              <a:rPr lang="en-US" sz="2400" dirty="0" smtClean="0"/>
              <a:t>We also need to handle whitespaces:</a:t>
            </a:r>
          </a:p>
          <a:p>
            <a:pPr lvl="1">
              <a:buNone/>
            </a:pPr>
            <a:r>
              <a:rPr lang="en-US" sz="2200" i="1" dirty="0" err="1" smtClean="0"/>
              <a:t>ws</a:t>
            </a:r>
            <a:r>
              <a:rPr lang="en-US" sz="2200" dirty="0" smtClean="0"/>
              <a:t> -&gt; (blank | tab | newline)+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Transition diagrams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Transition diagram for </a:t>
            </a:r>
            <a:r>
              <a:rPr lang="en-US" dirty="0" err="1" smtClean="0"/>
              <a:t>relop</a:t>
            </a:r>
            <a:endParaRPr lang="en-US" dirty="0" smtClean="0"/>
          </a:p>
          <a:p>
            <a:endParaRPr lang="en-IN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2472152"/>
            <a:ext cx="5524500" cy="3985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Transition diagrams (cont.)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Transition diagram for reserved words and identifiers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3733800"/>
            <a:ext cx="666750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Transition diagrams (cont.)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Transition diagram for unsigned numbers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895600"/>
            <a:ext cx="748665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Implementing of the transition diagram: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dirty="0" err="1" smtClean="0"/>
              <a:t>int</a:t>
            </a:r>
            <a:r>
              <a:rPr lang="en-US" sz="2400" dirty="0" smtClean="0"/>
              <a:t> state = 0, start = 0;</a:t>
            </a:r>
            <a:endParaRPr lang="en-IN" sz="2400" dirty="0" smtClean="0"/>
          </a:p>
          <a:p>
            <a:pPr>
              <a:spcBef>
                <a:spcPts val="0"/>
              </a:spcBef>
              <a:buNone/>
            </a:pP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 err="1" smtClean="0"/>
              <a:t>lexical_value</a:t>
            </a:r>
            <a:r>
              <a:rPr lang="en-US" sz="2400" dirty="0" smtClean="0"/>
              <a:t>;</a:t>
            </a:r>
            <a:endParaRPr lang="en-IN" sz="2400" dirty="0" smtClean="0"/>
          </a:p>
          <a:p>
            <a:pPr>
              <a:spcBef>
                <a:spcPts val="0"/>
              </a:spcBef>
              <a:buNone/>
            </a:pPr>
            <a:r>
              <a:rPr lang="en-US" sz="2400" dirty="0" err="1" smtClean="0"/>
              <a:t>int</a:t>
            </a:r>
            <a:r>
              <a:rPr lang="en-US" sz="2400" dirty="0" smtClean="0"/>
              <a:t> fail()</a:t>
            </a:r>
            <a:endParaRPr lang="en-IN" sz="2400" dirty="0" smtClean="0"/>
          </a:p>
          <a:p>
            <a:pPr>
              <a:spcBef>
                <a:spcPts val="0"/>
              </a:spcBef>
              <a:buNone/>
            </a:pPr>
            <a:r>
              <a:rPr lang="en-US" sz="2400" dirty="0" smtClean="0"/>
              <a:t>{</a:t>
            </a:r>
            <a:endParaRPr lang="en-IN" sz="2400" dirty="0" smtClean="0"/>
          </a:p>
          <a:p>
            <a:pPr>
              <a:spcBef>
                <a:spcPts val="0"/>
              </a:spcBef>
              <a:buNone/>
            </a:pPr>
            <a:r>
              <a:rPr lang="en-US" sz="2400" dirty="0" smtClean="0"/>
              <a:t>forward= </a:t>
            </a:r>
            <a:r>
              <a:rPr lang="en-US" sz="2400" dirty="0" err="1" smtClean="0"/>
              <a:t>token_begining</a:t>
            </a:r>
            <a:r>
              <a:rPr lang="en-US" sz="2400" dirty="0" smtClean="0"/>
              <a:t>;</a:t>
            </a:r>
            <a:endParaRPr lang="en-IN" sz="2400" dirty="0" smtClean="0"/>
          </a:p>
          <a:p>
            <a:pPr>
              <a:spcBef>
                <a:spcPts val="0"/>
              </a:spcBef>
              <a:buNone/>
            </a:pPr>
            <a:r>
              <a:rPr lang="en-US" sz="2400" dirty="0" smtClean="0"/>
              <a:t>switch (start)</a:t>
            </a:r>
            <a:endParaRPr lang="en-IN" sz="2400" dirty="0" smtClean="0"/>
          </a:p>
          <a:p>
            <a:pPr>
              <a:spcBef>
                <a:spcPts val="0"/>
              </a:spcBef>
              <a:buNone/>
            </a:pPr>
            <a:r>
              <a:rPr lang="en-US" sz="2400" dirty="0" smtClean="0"/>
              <a:t>{</a:t>
            </a:r>
            <a:r>
              <a:rPr lang="en-IN" sz="2400" dirty="0" smtClean="0"/>
              <a:t>		</a:t>
            </a:r>
            <a:r>
              <a:rPr lang="en-US" sz="2400" dirty="0" smtClean="0"/>
              <a:t>case 0: start= 9; break;</a:t>
            </a:r>
            <a:endParaRPr lang="en-IN" sz="2400" dirty="0" smtClean="0"/>
          </a:p>
          <a:p>
            <a:pPr>
              <a:spcBef>
                <a:spcPts val="0"/>
              </a:spcBef>
              <a:buNone/>
            </a:pPr>
            <a:r>
              <a:rPr lang="en-US" sz="2400" dirty="0" smtClean="0"/>
              <a:t>		case 9: start= 12; break;</a:t>
            </a:r>
            <a:endParaRPr lang="en-IN" sz="2400" dirty="0" smtClean="0"/>
          </a:p>
          <a:p>
            <a:pPr>
              <a:spcBef>
                <a:spcPts val="0"/>
              </a:spcBef>
              <a:buNone/>
            </a:pPr>
            <a:r>
              <a:rPr lang="en-US" sz="2400" dirty="0" smtClean="0"/>
              <a:t>		case 12: start= 20; break;</a:t>
            </a:r>
            <a:endParaRPr lang="en-IN" sz="2400" dirty="0" smtClean="0"/>
          </a:p>
          <a:p>
            <a:pPr>
              <a:spcBef>
                <a:spcPts val="0"/>
              </a:spcBef>
              <a:buNone/>
            </a:pPr>
            <a:r>
              <a:rPr lang="en-US" sz="2400" dirty="0" smtClean="0"/>
              <a:t>		case 20: start= 25; break;</a:t>
            </a:r>
            <a:endParaRPr lang="en-IN" sz="2400" dirty="0" smtClean="0"/>
          </a:p>
          <a:p>
            <a:pPr>
              <a:spcBef>
                <a:spcPts val="0"/>
              </a:spcBef>
              <a:buNone/>
            </a:pPr>
            <a:r>
              <a:rPr lang="en-US" sz="2400" dirty="0" smtClean="0"/>
              <a:t>		case 25: return( ); break;</a:t>
            </a:r>
            <a:endParaRPr lang="en-IN" sz="2400" dirty="0" smtClean="0"/>
          </a:p>
          <a:p>
            <a:pPr>
              <a:spcBef>
                <a:spcPts val="0"/>
              </a:spcBef>
              <a:buNone/>
            </a:pPr>
            <a:r>
              <a:rPr lang="en-IN" sz="2400" dirty="0" smtClean="0"/>
              <a:t>		</a:t>
            </a:r>
            <a:r>
              <a:rPr lang="en-US" sz="2400" dirty="0" smtClean="0"/>
              <a:t>default :   /* compiler error */</a:t>
            </a:r>
            <a:endParaRPr lang="en-IN" sz="2400" dirty="0" smtClean="0"/>
          </a:p>
          <a:p>
            <a:pPr>
              <a:spcBef>
                <a:spcPts val="0"/>
              </a:spcBef>
              <a:buNone/>
            </a:pPr>
            <a:r>
              <a:rPr lang="en-US" sz="2400" dirty="0" smtClean="0"/>
              <a:t>}	return start;</a:t>
            </a:r>
            <a:endParaRPr lang="en-IN" sz="2400" dirty="0" smtClean="0"/>
          </a:p>
          <a:p>
            <a:pPr>
              <a:spcBef>
                <a:spcPts val="0"/>
              </a:spcBef>
              <a:buNone/>
            </a:pPr>
            <a:r>
              <a:rPr lang="en-US" sz="2400" dirty="0" smtClean="0"/>
              <a:t>}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token </a:t>
            </a:r>
            <a:r>
              <a:rPr lang="en-US" dirty="0" err="1" smtClean="0"/>
              <a:t>nextotken</a:t>
            </a:r>
            <a:r>
              <a:rPr lang="en-US" dirty="0" smtClean="0"/>
              <a:t>( )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{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while( 1 )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{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switch ( state )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{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case 0 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c= = blank || c= =newline )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{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state= 0;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err="1" smtClean="0"/>
              <a:t>lexme_beginning</a:t>
            </a:r>
            <a:r>
              <a:rPr lang="en-US" dirty="0" smtClean="0"/>
              <a:t> ++;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if ( c = = ‘&lt;’) state = 1;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if ( c = = ‘=’) state = 5;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if ( c = = ‘&gt;’) state = 6;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state= fail(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break;</a:t>
            </a: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486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case 1: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	if ( c = = ‘=’) state = 2;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if ( c = = ‘&gt;’) state = 3;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state= 4;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break;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2: return ( </a:t>
            </a:r>
            <a:r>
              <a:rPr lang="en-US" dirty="0" err="1" smtClean="0"/>
              <a:t>relop</a:t>
            </a:r>
            <a:r>
              <a:rPr lang="en-US" dirty="0" smtClean="0"/>
              <a:t> , LE ); break;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3: return ( </a:t>
            </a:r>
            <a:r>
              <a:rPr lang="en-US" dirty="0" err="1" smtClean="0"/>
              <a:t>relop</a:t>
            </a:r>
            <a:r>
              <a:rPr lang="en-US" dirty="0" smtClean="0"/>
              <a:t> , NE ); break;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4: return ( </a:t>
            </a:r>
            <a:r>
              <a:rPr lang="en-US" dirty="0" err="1" smtClean="0"/>
              <a:t>relop</a:t>
            </a:r>
            <a:r>
              <a:rPr lang="en-US" dirty="0" smtClean="0"/>
              <a:t> , LT ); break;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5: return ( </a:t>
            </a:r>
            <a:r>
              <a:rPr lang="en-US" dirty="0" err="1" smtClean="0"/>
              <a:t>relop</a:t>
            </a:r>
            <a:r>
              <a:rPr lang="en-US" dirty="0" smtClean="0"/>
              <a:t> , EQ ); break;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6: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c = = ‘=’) state = 7;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state= 8;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break;</a:t>
            </a: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case 7: : return ( </a:t>
            </a:r>
            <a:r>
              <a:rPr lang="en-US" dirty="0" err="1" smtClean="0"/>
              <a:t>relop</a:t>
            </a:r>
            <a:r>
              <a:rPr lang="en-US" dirty="0" smtClean="0"/>
              <a:t> , GE ); break;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8: : return ( </a:t>
            </a:r>
            <a:r>
              <a:rPr lang="en-US" dirty="0" err="1" smtClean="0"/>
              <a:t>relop</a:t>
            </a:r>
            <a:r>
              <a:rPr lang="en-US" dirty="0" smtClean="0"/>
              <a:t> , GT ); break;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9: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</a:t>
            </a:r>
            <a:r>
              <a:rPr lang="en-US" dirty="0" err="1" smtClean="0"/>
              <a:t>isletter</a:t>
            </a:r>
            <a:r>
              <a:rPr lang="en-US" dirty="0" smtClean="0"/>
              <a:t>( c )) state = 10;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            else state= fail();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            break;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10: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</a:t>
            </a:r>
            <a:r>
              <a:rPr lang="en-US" dirty="0" err="1" smtClean="0"/>
              <a:t>isletter</a:t>
            </a:r>
            <a:r>
              <a:rPr lang="en-US" dirty="0" smtClean="0"/>
              <a:t>( c )) state = 10;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if ( </a:t>
            </a:r>
            <a:r>
              <a:rPr lang="en-US" dirty="0" err="1" smtClean="0"/>
              <a:t>isdigit</a:t>
            </a:r>
            <a:r>
              <a:rPr lang="en-US" dirty="0" smtClean="0"/>
              <a:t> ( c )) state = 10;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state= 11;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break;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case 11 : retract ( 1 );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   install-id(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   return ( </a:t>
            </a:r>
            <a:r>
              <a:rPr lang="en-US" dirty="0" err="1" smtClean="0"/>
              <a:t>gettoken</a:t>
            </a:r>
            <a:r>
              <a:rPr lang="en-US" dirty="0" smtClean="0"/>
              <a:t> ( ));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   break;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12: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</a:t>
            </a:r>
            <a:r>
              <a:rPr lang="en-US" dirty="0" err="1" smtClean="0"/>
              <a:t>isdigit</a:t>
            </a:r>
            <a:r>
              <a:rPr lang="en-US" dirty="0" smtClean="0"/>
              <a:t>( c )) state = 13;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state= fail(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13: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</a:t>
            </a:r>
            <a:r>
              <a:rPr lang="en-US" dirty="0" err="1" smtClean="0"/>
              <a:t>isdigit</a:t>
            </a:r>
            <a:r>
              <a:rPr lang="en-US" dirty="0" smtClean="0"/>
              <a:t>( c )) state = 13;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if ( c= =’ .’ ) state = 14;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if ( c= = E ) state = 16;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else state= fail( );</a:t>
            </a:r>
            <a:endParaRPr lang="en-IN" dirty="0" smtClean="0"/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case 14: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</a:t>
            </a:r>
            <a:r>
              <a:rPr lang="en-US" dirty="0" err="1" smtClean="0"/>
              <a:t>isdigit</a:t>
            </a:r>
            <a:r>
              <a:rPr lang="en-US" dirty="0" smtClean="0"/>
              <a:t>( c )) state = 15;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state= fail(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15: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</a:t>
            </a:r>
            <a:r>
              <a:rPr lang="en-US" dirty="0" err="1" smtClean="0"/>
              <a:t>isdigit</a:t>
            </a:r>
            <a:r>
              <a:rPr lang="en-US" dirty="0" smtClean="0"/>
              <a:t>( c )) state = 15;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if (c= = E) state = 16;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state= fail(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break;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16: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c= =’+’ || c= =’-‘ ) state= 17;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if ( </a:t>
            </a:r>
            <a:r>
              <a:rPr lang="en-US" dirty="0" err="1" smtClean="0"/>
              <a:t>isdigit</a:t>
            </a:r>
            <a:r>
              <a:rPr lang="en-US" dirty="0" smtClean="0"/>
              <a:t>( c )) state = 18;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state= fail(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break;</a:t>
            </a: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case 17: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</a:t>
            </a:r>
            <a:r>
              <a:rPr lang="en-US" dirty="0" err="1" smtClean="0"/>
              <a:t>isdigit</a:t>
            </a:r>
            <a:r>
              <a:rPr lang="en-US" dirty="0" smtClean="0"/>
              <a:t>( c )) state = 18;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state= fail(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break;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18: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</a:t>
            </a:r>
            <a:r>
              <a:rPr lang="en-US" dirty="0" err="1" smtClean="0"/>
              <a:t>isdigit</a:t>
            </a:r>
            <a:r>
              <a:rPr lang="en-US" dirty="0" smtClean="0"/>
              <a:t>( c )) state = 18;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if ( c= =other ) state= 19;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state= fail(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break;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19: return ( num, </a:t>
            </a:r>
            <a:r>
              <a:rPr lang="en-US" dirty="0" err="1" smtClean="0"/>
              <a:t>install_num</a:t>
            </a:r>
            <a:r>
              <a:rPr lang="en-US" dirty="0" smtClean="0"/>
              <a:t>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20: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</a:t>
            </a:r>
            <a:r>
              <a:rPr lang="en-US" dirty="0" err="1" smtClean="0"/>
              <a:t>isdigit</a:t>
            </a:r>
            <a:r>
              <a:rPr lang="en-US" dirty="0" smtClean="0"/>
              <a:t>( c )) state = 21;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state= fail(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break;</a:t>
            </a:r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case 21: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</a:t>
            </a:r>
            <a:r>
              <a:rPr lang="en-US" dirty="0" err="1" smtClean="0"/>
              <a:t>isdigit</a:t>
            </a:r>
            <a:r>
              <a:rPr lang="en-US" dirty="0" smtClean="0"/>
              <a:t>( c )) state = 21;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if ( c= =’.’) state= 22;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state= fail(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break;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22: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</a:t>
            </a:r>
            <a:r>
              <a:rPr lang="en-US" dirty="0" err="1" smtClean="0"/>
              <a:t>isdigit</a:t>
            </a:r>
            <a:r>
              <a:rPr lang="en-US" dirty="0" smtClean="0"/>
              <a:t>( c )) state = 23;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else state= fail(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break;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23: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</a:t>
            </a:r>
            <a:r>
              <a:rPr lang="en-US" dirty="0" err="1" smtClean="0"/>
              <a:t>isdigit</a:t>
            </a:r>
            <a:r>
              <a:rPr lang="en-US" dirty="0" smtClean="0"/>
              <a:t>( c )) state = 23;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if ( c= =other) state= 24;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state= fail(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break;</a:t>
            </a:r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case 24: return ( num, </a:t>
            </a:r>
            <a:r>
              <a:rPr lang="en-US" dirty="0" err="1" smtClean="0"/>
              <a:t>install_num</a:t>
            </a:r>
            <a:r>
              <a:rPr lang="en-US" dirty="0" smtClean="0"/>
              <a:t>( ));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25: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</a:t>
            </a:r>
            <a:r>
              <a:rPr lang="en-US" dirty="0" err="1" smtClean="0"/>
              <a:t>isdigit</a:t>
            </a:r>
            <a:r>
              <a:rPr lang="en-US" dirty="0" smtClean="0"/>
              <a:t>( c )) state = 26;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state= fail(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break;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26: c=</a:t>
            </a:r>
            <a:r>
              <a:rPr lang="en-US" dirty="0" err="1" smtClean="0"/>
              <a:t>nextchar</a:t>
            </a:r>
            <a:r>
              <a:rPr lang="en-US" dirty="0" smtClean="0"/>
              <a:t>( 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if ( </a:t>
            </a:r>
            <a:r>
              <a:rPr lang="en-US" dirty="0" err="1" smtClean="0"/>
              <a:t>isdigit</a:t>
            </a:r>
            <a:r>
              <a:rPr lang="en-US" dirty="0" smtClean="0"/>
              <a:t>( c )) state = 26;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else state= 27;</a:t>
            </a:r>
            <a:endParaRPr lang="en-IN" dirty="0" smtClean="0"/>
          </a:p>
          <a:p>
            <a:pPr>
              <a:buNone/>
            </a:pPr>
            <a:r>
              <a:rPr lang="en-US" smtClean="0"/>
              <a:t>		break</a:t>
            </a:r>
            <a:r>
              <a:rPr lang="en-US" dirty="0" smtClean="0"/>
              <a:t>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case 27: return ( num, </a:t>
            </a:r>
            <a:r>
              <a:rPr lang="en-US" dirty="0" err="1" smtClean="0"/>
              <a:t>install_num</a:t>
            </a:r>
            <a:r>
              <a:rPr lang="en-US" dirty="0" smtClean="0"/>
              <a:t>( ));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Lexical Analyzer Generator - Lex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2362200"/>
            <a:ext cx="20574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Lexical Compiler</a:t>
            </a:r>
          </a:p>
        </p:txBody>
      </p:sp>
      <p:cxnSp>
        <p:nvCxnSpPr>
          <p:cNvPr id="5" name="Straight Arrow Connector 4"/>
          <p:cNvCxnSpPr>
            <a:endCxn id="4" idx="1"/>
          </p:cNvCxnSpPr>
          <p:nvPr/>
        </p:nvCxnSpPr>
        <p:spPr>
          <a:xfrm>
            <a:off x="2514600" y="2819400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3" name="TextBox 12"/>
          <p:cNvSpPr txBox="1">
            <a:spLocks noChangeArrowheads="1"/>
          </p:cNvSpPr>
          <p:nvPr/>
        </p:nvSpPr>
        <p:spPr bwMode="auto">
          <a:xfrm>
            <a:off x="533400" y="2416175"/>
            <a:ext cx="227171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 err="1"/>
              <a:t>Lex</a:t>
            </a:r>
            <a:r>
              <a:rPr lang="en-US" sz="2000" dirty="0"/>
              <a:t> Source program</a:t>
            </a:r>
          </a:p>
          <a:p>
            <a:r>
              <a:rPr lang="en-US" sz="2000" dirty="0" err="1"/>
              <a:t>lex.l</a:t>
            </a:r>
            <a:endParaRPr lang="en-US" sz="2000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715000" y="2819400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5" name="TextBox 12"/>
          <p:cNvSpPr txBox="1">
            <a:spLocks noChangeArrowheads="1"/>
          </p:cNvSpPr>
          <p:nvPr/>
        </p:nvSpPr>
        <p:spPr bwMode="auto">
          <a:xfrm>
            <a:off x="7024688" y="2590800"/>
            <a:ext cx="12811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lex.yy.c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581400"/>
            <a:ext cx="20574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  <a:cs typeface="Arial" charset="0"/>
              </a:rPr>
              <a:t>C</a:t>
            </a:r>
          </a:p>
          <a:p>
            <a:pPr algn="ctr">
              <a:defRPr/>
            </a:pPr>
            <a:r>
              <a:rPr lang="en-US">
                <a:solidFill>
                  <a:srgbClr val="FFFFFF"/>
                </a:solidFill>
                <a:cs typeface="Arial" charset="0"/>
              </a:rPr>
              <a:t>compiler</a:t>
            </a: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>
            <a:off x="2514600" y="4038600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8" name="TextBox 12"/>
          <p:cNvSpPr txBox="1">
            <a:spLocks noChangeArrowheads="1"/>
          </p:cNvSpPr>
          <p:nvPr/>
        </p:nvSpPr>
        <p:spPr bwMode="auto">
          <a:xfrm>
            <a:off x="1066800" y="3810000"/>
            <a:ext cx="15859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lex.yy.c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5715000" y="4038600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60" name="TextBox 12"/>
          <p:cNvSpPr txBox="1">
            <a:spLocks noChangeArrowheads="1"/>
          </p:cNvSpPr>
          <p:nvPr/>
        </p:nvSpPr>
        <p:spPr bwMode="auto">
          <a:xfrm>
            <a:off x="7024688" y="3810000"/>
            <a:ext cx="12811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a.out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724400"/>
            <a:ext cx="20574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/>
              <a:t>a.out</a:t>
            </a:r>
            <a:endParaRPr lang="en-US" dirty="0"/>
          </a:p>
        </p:txBody>
      </p:sp>
      <p:cxnSp>
        <p:nvCxnSpPr>
          <p:cNvPr id="16" name="Straight Arrow Connector 15"/>
          <p:cNvCxnSpPr>
            <a:endCxn id="15" idx="1"/>
          </p:cNvCxnSpPr>
          <p:nvPr/>
        </p:nvCxnSpPr>
        <p:spPr>
          <a:xfrm>
            <a:off x="2514600" y="5181600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63" name="TextBox 12"/>
          <p:cNvSpPr txBox="1">
            <a:spLocks noChangeArrowheads="1"/>
          </p:cNvSpPr>
          <p:nvPr/>
        </p:nvSpPr>
        <p:spPr bwMode="auto">
          <a:xfrm>
            <a:off x="990600" y="4953000"/>
            <a:ext cx="15859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Input stream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715000" y="5181600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65" name="TextBox 12"/>
          <p:cNvSpPr txBox="1">
            <a:spLocks noChangeArrowheads="1"/>
          </p:cNvSpPr>
          <p:nvPr/>
        </p:nvSpPr>
        <p:spPr bwMode="auto">
          <a:xfrm>
            <a:off x="7024688" y="4854575"/>
            <a:ext cx="128111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Sequence of tokens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Lex</a:t>
            </a:r>
            <a:r>
              <a:rPr lang="en-US" b="1" dirty="0" smtClean="0"/>
              <a:t> Specifications: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A </a:t>
            </a:r>
            <a:r>
              <a:rPr lang="en-US" dirty="0" err="1" smtClean="0"/>
              <a:t>Lex</a:t>
            </a:r>
            <a:r>
              <a:rPr lang="en-US" dirty="0" smtClean="0"/>
              <a:t> program consists of three parts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declarations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% %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translation rules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% %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auxiliary procedures</a:t>
            </a: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Translation Rules: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The translation rules of a </a:t>
            </a:r>
            <a:r>
              <a:rPr lang="en-US" dirty="0" err="1" smtClean="0"/>
              <a:t>Lex</a:t>
            </a:r>
            <a:r>
              <a:rPr lang="en-US" dirty="0" smtClean="0"/>
              <a:t> program are statements of the form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p</a:t>
            </a:r>
            <a:r>
              <a:rPr lang="en-US" baseline="-25000" dirty="0" smtClean="0"/>
              <a:t>1</a:t>
            </a:r>
            <a:r>
              <a:rPr lang="en-US" dirty="0" smtClean="0"/>
              <a:t>   {action</a:t>
            </a:r>
            <a:r>
              <a:rPr lang="en-US" baseline="-25000" dirty="0" smtClean="0"/>
              <a:t>1</a:t>
            </a:r>
            <a:r>
              <a:rPr lang="en-US" dirty="0" smtClean="0"/>
              <a:t>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p</a:t>
            </a:r>
            <a:r>
              <a:rPr lang="en-US" baseline="-25000" dirty="0" smtClean="0"/>
              <a:t>2 </a:t>
            </a:r>
            <a:r>
              <a:rPr lang="en-US" dirty="0" smtClean="0"/>
              <a:t>  {action</a:t>
            </a:r>
            <a:r>
              <a:rPr lang="en-US" baseline="-25000" dirty="0" smtClean="0"/>
              <a:t>2</a:t>
            </a:r>
            <a:r>
              <a:rPr lang="en-US" dirty="0" smtClean="0"/>
              <a:t>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………….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err="1" smtClean="0"/>
              <a:t>p</a:t>
            </a:r>
            <a:r>
              <a:rPr lang="en-US" baseline="-25000" dirty="0" err="1" smtClean="0"/>
              <a:t>n</a:t>
            </a:r>
            <a:r>
              <a:rPr lang="en-US" baseline="-25000" dirty="0" smtClean="0"/>
              <a:t>     </a:t>
            </a:r>
            <a:r>
              <a:rPr lang="en-US" dirty="0" smtClean="0"/>
              <a:t>{</a:t>
            </a:r>
            <a:r>
              <a:rPr lang="en-US" dirty="0" err="1" smtClean="0"/>
              <a:t>action</a:t>
            </a:r>
            <a:r>
              <a:rPr lang="en-US" baseline="-25000" dirty="0" err="1" smtClean="0"/>
              <a:t>n</a:t>
            </a:r>
            <a:r>
              <a:rPr lang="en-US" dirty="0" smtClean="0"/>
              <a:t>}</a:t>
            </a: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txBody>
          <a:bodyPr/>
          <a:lstStyle/>
          <a:p>
            <a:r>
              <a:rPr lang="en-US" dirty="0" smtClean="0"/>
              <a:t>LEX Program: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/>
              <a:t>% { 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/* definition of constants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LT, LE, EQ, NE, GT, GE, IF, THEN, ELSE, ID,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NUMBER, RELOP */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     }%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    /* regular definitions */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delim</a:t>
            </a:r>
            <a:r>
              <a:rPr lang="en-US" dirty="0" smtClean="0"/>
              <a:t>	[\t \n]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ws</a:t>
            </a:r>
            <a:r>
              <a:rPr lang="en-US" dirty="0" smtClean="0"/>
              <a:t>		{</a:t>
            </a:r>
            <a:r>
              <a:rPr lang="en-US" dirty="0" err="1" smtClean="0"/>
              <a:t>delim</a:t>
            </a:r>
            <a:r>
              <a:rPr lang="en-US" dirty="0" smtClean="0"/>
              <a:t>}+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letter		[A-</a:t>
            </a:r>
            <a:r>
              <a:rPr lang="en-US" dirty="0" err="1" smtClean="0"/>
              <a:t>Za</a:t>
            </a:r>
            <a:r>
              <a:rPr lang="en-US" dirty="0" smtClean="0"/>
              <a:t>-z]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digit		[0-9]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id		{letter}({letter}|{digit})*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number	{digit}+(\.{digit}+)?(E[+/-]?{digit}+)?</a:t>
            </a: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%%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{</a:t>
            </a:r>
            <a:r>
              <a:rPr lang="en-US" dirty="0" err="1" smtClean="0"/>
              <a:t>ws</a:t>
            </a:r>
            <a:r>
              <a:rPr lang="en-US" dirty="0" smtClean="0"/>
              <a:t>}		{/* no action and no return */}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if		{return(IF);}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then		{return(then);}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else		{return(else);}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{id}		{</a:t>
            </a:r>
            <a:r>
              <a:rPr lang="en-US" dirty="0" err="1" smtClean="0"/>
              <a:t>yylval</a:t>
            </a:r>
            <a:r>
              <a:rPr lang="en-US" dirty="0" smtClean="0"/>
              <a:t>= </a:t>
            </a:r>
            <a:r>
              <a:rPr lang="en-US" dirty="0" err="1" smtClean="0"/>
              <a:t>install_id</a:t>
            </a:r>
            <a:r>
              <a:rPr lang="en-US" dirty="0" smtClean="0"/>
              <a:t>( ); return(id);}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{number}	{</a:t>
            </a:r>
            <a:r>
              <a:rPr lang="en-US" dirty="0" err="1" smtClean="0"/>
              <a:t>yylval</a:t>
            </a:r>
            <a:r>
              <a:rPr lang="en-US" dirty="0" smtClean="0"/>
              <a:t>= </a:t>
            </a:r>
            <a:r>
              <a:rPr lang="en-US" dirty="0" err="1" smtClean="0"/>
              <a:t>install_id</a:t>
            </a:r>
            <a:r>
              <a:rPr lang="en-US" dirty="0" smtClean="0"/>
              <a:t>( ); return(number);}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“&lt;”		{</a:t>
            </a:r>
            <a:r>
              <a:rPr lang="en-US" dirty="0" err="1" smtClean="0"/>
              <a:t>yylval</a:t>
            </a:r>
            <a:r>
              <a:rPr lang="en-US" dirty="0" smtClean="0"/>
              <a:t>= LT; return(RELOP);}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“&lt; =”		{</a:t>
            </a:r>
            <a:r>
              <a:rPr lang="en-US" dirty="0" err="1" smtClean="0"/>
              <a:t>yylval</a:t>
            </a:r>
            <a:r>
              <a:rPr lang="en-US" dirty="0" smtClean="0"/>
              <a:t>= LE; return(RELOP);}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“=”		{</a:t>
            </a:r>
            <a:r>
              <a:rPr lang="en-US" dirty="0" err="1" smtClean="0"/>
              <a:t>yylval</a:t>
            </a:r>
            <a:r>
              <a:rPr lang="en-US" dirty="0" smtClean="0"/>
              <a:t>= EQ; return(RELOP);}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“&lt; &gt;”		{</a:t>
            </a:r>
            <a:r>
              <a:rPr lang="en-US" dirty="0" err="1" smtClean="0"/>
              <a:t>yylval</a:t>
            </a:r>
            <a:r>
              <a:rPr lang="en-US" dirty="0" smtClean="0"/>
              <a:t>= NE; return(RELOP);}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“&gt;”		{</a:t>
            </a:r>
            <a:r>
              <a:rPr lang="en-US" dirty="0" err="1" smtClean="0"/>
              <a:t>yylval</a:t>
            </a:r>
            <a:r>
              <a:rPr lang="en-US" dirty="0" smtClean="0"/>
              <a:t>= GT; return(RELOP);}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“&gt; =”		{</a:t>
            </a:r>
            <a:r>
              <a:rPr lang="en-US" dirty="0" err="1" smtClean="0"/>
              <a:t>yylval</a:t>
            </a:r>
            <a:r>
              <a:rPr lang="en-US" dirty="0" smtClean="0"/>
              <a:t>= GE; return(RELOP);}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%%</a:t>
            </a: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err="1" smtClean="0"/>
              <a:t>install_id</a:t>
            </a:r>
            <a:r>
              <a:rPr lang="en-US" dirty="0" smtClean="0"/>
              <a:t>( )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{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/* procedure to install the lexeme, whose first character is pointed to by </a:t>
            </a:r>
            <a:r>
              <a:rPr lang="en-US" dirty="0" err="1" smtClean="0"/>
              <a:t>yytext</a:t>
            </a:r>
            <a:r>
              <a:rPr lang="en-US" dirty="0" smtClean="0"/>
              <a:t> and whose length is </a:t>
            </a:r>
            <a:r>
              <a:rPr lang="en-US" dirty="0" err="1" smtClean="0"/>
              <a:t>yyleng</a:t>
            </a:r>
            <a:r>
              <a:rPr lang="en-US" dirty="0" smtClean="0"/>
              <a:t>, in to the symbol table and return a pointer there to */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}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 </a:t>
            </a:r>
            <a:endParaRPr lang="en-IN" dirty="0" smtClean="0"/>
          </a:p>
          <a:p>
            <a:pPr>
              <a:buNone/>
            </a:pPr>
            <a:r>
              <a:rPr lang="en-US" dirty="0" err="1" smtClean="0"/>
              <a:t>install_num</a:t>
            </a:r>
            <a:r>
              <a:rPr lang="en-US" dirty="0" smtClean="0"/>
              <a:t>( )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{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/* similar procedure to install a lexeme that is a number */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}</a:t>
            </a:r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180</TotalTime>
  <Words>796</Words>
  <Application>Microsoft Office PowerPoint</Application>
  <PresentationFormat>On-screen Show (4:3)</PresentationFormat>
  <Paragraphs>284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Flow</vt:lpstr>
      <vt:lpstr>Lexical Analyzer</vt:lpstr>
      <vt:lpstr>Lexical Analyzer</vt:lpstr>
      <vt:lpstr>The Role Of The Lexical Analyzer: </vt:lpstr>
      <vt:lpstr>Tokens, Patterns and Lexemes:</vt:lpstr>
      <vt:lpstr>Tokens, Patterns and Lexeme: const Pi:=3.14</vt:lpstr>
      <vt:lpstr>Specification of Tokens:</vt:lpstr>
      <vt:lpstr>Regular Expression</vt:lpstr>
      <vt:lpstr>Identities for regular expression:</vt:lpstr>
      <vt:lpstr>Regular definitions:</vt:lpstr>
      <vt:lpstr>Recognition of tokens</vt:lpstr>
      <vt:lpstr>Recognition of tokens (cont.)</vt:lpstr>
      <vt:lpstr>Transition diagrams</vt:lpstr>
      <vt:lpstr>Transition diagrams (cont.)</vt:lpstr>
      <vt:lpstr>Transition diagrams (cont.)</vt:lpstr>
      <vt:lpstr>Implementing of the transition diagram: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Lexical Analyzer Generator - Lex</vt:lpstr>
      <vt:lpstr>Lex Specifications:</vt:lpstr>
      <vt:lpstr>Translation Rules:</vt:lpstr>
      <vt:lpstr>LEX Program:</vt:lpstr>
      <vt:lpstr>Slide 28</vt:lpstr>
      <vt:lpstr>Slide 29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Lexical Analyzer</dc:title>
  <dc:creator>VIT-IT</dc:creator>
  <cp:lastModifiedBy>vit</cp:lastModifiedBy>
  <cp:revision>53</cp:revision>
  <dcterms:created xsi:type="dcterms:W3CDTF">2006-08-16T00:00:00Z</dcterms:created>
  <dcterms:modified xsi:type="dcterms:W3CDTF">2024-06-26T05:29:15Z</dcterms:modified>
</cp:coreProperties>
</file>